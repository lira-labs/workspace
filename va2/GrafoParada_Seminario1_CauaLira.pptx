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 tarde pessoal, meu projeto é o GrafoParada: Frota no Vazio, focado em resolver a cegueira da catraca nas linhas onde o ônibus demora uma hora para passar.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demora faz o trabalhador acordar muito mais cedo e continuar chegando tarde. Muitas opções de ônibus só passam de uma em uma hora. Enquanto a empresa demora, transportes alternativos — kombi, ligeirinho, moto-táxi e Uber — estão levando os passageiros. O GrafoParada quer mostrar pras empresas que elas não ficaram sem passageiros, elas negligenciaram o trabalhador, e apontar onde remanejar horários vazios.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Cittamobi e outros apps, a gente tem todo aquele lance de puxar o celular no meio da rua com chance de ser assaltado, procurar a parada, às vezes o rastreador nem aparece na linha. Ele só mede o tempo do ônibus, em nada ajuda o passageiro quando ele desiste.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Essa pesquisa do Wang et al. (2022) na Transportation Research Part C é o máximo por diminuir o erro em 21,7% usando buscas no celular. Mas estamos no Brasil, o transporte não é de qualidade. A catraca mente: ela não conta a negligência das empresas que não se importam de chegar às 6h30 quando o horário era 6h, e esconde quem desistiu.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GrafoParada aprende a sua rotina no celular, avisa por voz no fone quantos minutos faltam e mostra quais horários vão vazios para realocar combustível. Na nossa pergunta científica, o alerta do celular zerou os atrasos não avisados de 28% para 0%. E no corredor curto de 5 paradas, o cálculo mais simples ganhou da STGCN (2,46 contra 4,42 min). Por que não jogar a STGCN fora? Porque em paradas curtas o simples ganha, mas quando o sistema aumenta — onde um ônibus atrasado afeta outro ou há uma batida e o ônibus se realoca — o modelo simples se perde.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 se na parada não houver nenhum smartphone, como num bairro mais humilde ou com idosos? O ônibus uma hora precisa parar, certo? Então no caso de não haver nenhum smartphone a gente usa essa lógica pelo GPS do ônibus: se ele parou na parada, ninguém tira aquele horário. Obrigado!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10927080" y="475488"/>
            <a:ext cx="274320" cy="237744"/>
          </a:xfrm>
          <a:prstGeom prst="line">
            <a:avLst/>
          </a:prstGeom>
          <a:ln w="222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201400" y="475488"/>
            <a:ext cx="274320" cy="237744"/>
          </a:xfrm>
          <a:prstGeom prst="line">
            <a:avLst/>
          </a:prstGeom>
          <a:ln w="222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27080" y="713232"/>
            <a:ext cx="548640" cy="0"/>
          </a:xfrm>
          <a:prstGeom prst="line">
            <a:avLst/>
          </a:prstGeom>
          <a:ln w="222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844784" y="630936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19104" y="393192"/>
            <a:ext cx="164592" cy="16459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93424" y="630936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822960"/>
            <a:ext cx="4848148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22960"/>
            <a:ext cx="4848148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8BDF8"/>
                </a:solidFill>
                <a:latin typeface="Calibri"/>
              </a:rPr>
              <a:t>SEMINÁRIO 1 · PRELIMINARES · AI4GOOD (UFRPE)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0911535" cy="1005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8FAFC"/>
                </a:solidFill>
                <a:latin typeface="Calibri"/>
              </a:rPr>
              <a:t>GrafoParada </a:t>
            </a:r>
            <a:r>
              <a:rPr sz="5400" b="1" i="0">
                <a:solidFill>
                  <a:srgbClr val="94A3B8"/>
                </a:solidFill>
                <a:latin typeface="Calibri"/>
              </a:rPr>
              <a:t>· </a:t>
            </a:r>
            <a:r>
              <a:rPr sz="5400" b="1" i="0">
                <a:solidFill>
                  <a:srgbClr val="38BDF8"/>
                </a:solidFill>
                <a:latin typeface="Calibri"/>
              </a:rPr>
              <a:t>Frota no Vazio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10362895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38BDF8"/>
                </a:solidFill>
                <a:latin typeface="Calibri"/>
              </a:rPr>
              <a:t>“A catraca mente”</a:t>
            </a:r>
            <a:r>
              <a:rPr sz="2200" b="0" i="0">
                <a:solidFill>
                  <a:srgbClr val="F8FAFC"/>
                </a:solidFill>
                <a:latin typeface="Calibri"/>
              </a:rPr>
              <a:t>: onde o relatório vê parada vazia, o grafo enxerga quem cansou de esperar.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77639"/>
            <a:ext cx="3332378" cy="1920240"/>
          </a:xfrm>
          <a:prstGeom prst="roundRect">
            <a:avLst>
              <a:gd name="adj" fmla="val 6666"/>
            </a:avLst>
          </a:prstGeom>
          <a:solidFill>
            <a:srgbClr val="1E293B"/>
          </a:solidFill>
          <a:ln w="254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4206240"/>
            <a:ext cx="402336" cy="402336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0624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54879"/>
            <a:ext cx="287517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Calibri"/>
              </a:rPr>
              <a:t>PE-60 / Ipojuca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20640"/>
            <a:ext cx="287517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Intervalos de 1h empurram o trabalhador p/ alternativo</a:t>
            </a:r>
          </a:p>
        </p:txBody>
      </p:sp>
      <p:sp>
        <p:nvSpPr>
          <p:cNvPr id="17" name="Chevron 16"/>
          <p:cNvSpPr/>
          <p:nvPr/>
        </p:nvSpPr>
        <p:spPr>
          <a:xfrm>
            <a:off x="4100474" y="4773168"/>
            <a:ext cx="201168" cy="329184"/>
          </a:xfrm>
          <a:prstGeom prst="chevron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29658" y="3977639"/>
            <a:ext cx="3332378" cy="1920240"/>
          </a:xfrm>
          <a:prstGeom prst="roundRect">
            <a:avLst>
              <a:gd name="adj" fmla="val 6666"/>
            </a:avLst>
          </a:prstGeom>
          <a:solidFill>
            <a:srgbClr val="1E293B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58258" y="4206240"/>
            <a:ext cx="402336" cy="402336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58258" y="420624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8258" y="4754879"/>
            <a:ext cx="287517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Calibri"/>
              </a:rPr>
              <a:t>Sinal no Bolso + GPS Aberto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8258" y="5120640"/>
            <a:ext cx="287517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Rotina local c/ voz no fone + telemetria pública</a:t>
            </a:r>
          </a:p>
        </p:txBody>
      </p:sp>
      <p:sp>
        <p:nvSpPr>
          <p:cNvPr id="23" name="Chevron 22"/>
          <p:cNvSpPr/>
          <p:nvPr/>
        </p:nvSpPr>
        <p:spPr>
          <a:xfrm>
            <a:off x="7890052" y="4773168"/>
            <a:ext cx="201168" cy="329184"/>
          </a:xfrm>
          <a:prstGeom prst="chevron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19236" y="3977639"/>
            <a:ext cx="3332378" cy="1920240"/>
          </a:xfrm>
          <a:prstGeom prst="roundRect">
            <a:avLst>
              <a:gd name="adj" fmla="val 6666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47836" y="4206240"/>
            <a:ext cx="402336" cy="40233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7836" y="420624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7836" y="4754879"/>
            <a:ext cx="287517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Calibri"/>
              </a:rPr>
              <a:t>Frota no Vazio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7836" y="5120640"/>
            <a:ext cx="287517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Realoca combustível de viagens ociosas sem pedir mais ônibus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1722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Cauã da Cunha Lira · Repositório: github.com/lira-labs/workspace/tree/main/va2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10927080" y="475488"/>
            <a:ext cx="274320" cy="237744"/>
          </a:xfrm>
          <a:prstGeom prst="line">
            <a:avLst/>
          </a:prstGeom>
          <a:ln w="222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201400" y="475488"/>
            <a:ext cx="274320" cy="237744"/>
          </a:xfrm>
          <a:prstGeom prst="line">
            <a:avLst/>
          </a:prstGeom>
          <a:ln w="222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27080" y="713232"/>
            <a:ext cx="548640" cy="0"/>
          </a:xfrm>
          <a:prstGeom prst="line">
            <a:avLst/>
          </a:prstGeom>
          <a:ln w="222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844784" y="630936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19104" y="393192"/>
            <a:ext cx="164592" cy="16459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93424" y="630936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4058107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11480"/>
            <a:ext cx="4058107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8BDF8"/>
                </a:solidFill>
                <a:latin typeface="Calibri"/>
              </a:rPr>
              <a:t>1 · A IDEIA (QUEM SOFRE E O QUE FAZ)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68680"/>
            <a:ext cx="10911535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3F5E"/>
                </a:solidFill>
                <a:latin typeface="Calibri"/>
              </a:rPr>
              <a:t>“A catraca mente.” </a:t>
            </a:r>
            <a:r>
              <a:rPr sz="3000" b="1" i="0">
                <a:solidFill>
                  <a:srgbClr val="F8FAFC"/>
                </a:solidFill>
                <a:latin typeface="Calibri"/>
              </a:rPr>
              <a:t>Quem desiste na parada vira invisível.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03120"/>
            <a:ext cx="3454298" cy="288036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254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43F5E"/>
                </a:solidFill>
                <a:latin typeface="Calibri"/>
              </a:rPr>
              <a:t>A DOR NA RUA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06039"/>
            <a:ext cx="2997098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43F5E"/>
                </a:solidFill>
                <a:latin typeface="Calibri"/>
              </a:rPr>
              <a:t>50+</a:t>
            </a:r>
            <a:r>
              <a:rPr sz="2400" b="1" i="0">
                <a:solidFill>
                  <a:srgbClr val="F43F5E"/>
                </a:solidFill>
                <a:latin typeface="Calibri"/>
              </a:rPr>
              <a:t>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74720"/>
            <a:ext cx="299709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8FAFC"/>
                </a:solidFill>
                <a:latin typeface="Calibri"/>
              </a:rPr>
              <a:t>Ônibus atrasa na PE-60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Trabalhador acorda cedo, chega tarde e pega kombi, ligeirinho, moto-táxi ou Uber.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8698" y="2103120"/>
            <a:ext cx="3454298" cy="288036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7298" y="228600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O ERRO DA EMPRESA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7298" y="2606039"/>
            <a:ext cx="2997098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59E0B"/>
                </a:solidFill>
                <a:latin typeface="Calibri"/>
              </a:rPr>
              <a:t>0</a:t>
            </a:r>
            <a:r>
              <a:rPr sz="2400" b="1" i="0">
                <a:solidFill>
                  <a:srgbClr val="F59E0B"/>
                </a:solidFill>
                <a:latin typeface="Calibri"/>
              </a:rPr>
              <a:t> na Catraca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7298" y="3474720"/>
            <a:ext cx="299709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8FAFC"/>
                </a:solidFill>
                <a:latin typeface="Calibri"/>
              </a:rPr>
              <a:t>Quem desistiu não gira a catraca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Empresa acha que não tinha passageiro e corta mais horários.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7316" y="2103120"/>
            <a:ext cx="3454298" cy="288036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5916" y="2286000"/>
            <a:ext cx="2997098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O GRAFOPARADA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5916" y="2606039"/>
            <a:ext cx="2997098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0B981"/>
                </a:solidFill>
                <a:latin typeface="Calibri"/>
              </a:rPr>
              <a:t>Voz + Grafo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5916" y="3474720"/>
            <a:ext cx="299709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8FAFC"/>
                </a:solidFill>
                <a:latin typeface="Calibri"/>
              </a:rPr>
              <a:t>Aprende a rotina no celular (avisa no fone sem risco de assalto)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Cruza desistência com ônibus rodando vazios.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1722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Dados: Grande Recife Consórcio (-40% viagens na década) · Anuário NTU (-19,1 mi passageiros/dia)</a:t>
            </a:r>
          </a:p>
        </p:txBody>
      </p:sp>
      <p:pic>
        <p:nvPicPr>
          <p:cNvPr id="26" name="Picture 25" descr="fluxo_pe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166360"/>
            <a:ext cx="10908792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10927080" y="475488"/>
            <a:ext cx="274320" cy="237744"/>
          </a:xfrm>
          <a:prstGeom prst="line">
            <a:avLst/>
          </a:prstGeom>
          <a:ln w="222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201400" y="475488"/>
            <a:ext cx="274320" cy="237744"/>
          </a:xfrm>
          <a:prstGeom prst="line">
            <a:avLst/>
          </a:prstGeom>
          <a:ln w="222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27080" y="713232"/>
            <a:ext cx="548640" cy="0"/>
          </a:xfrm>
          <a:prstGeom prst="line">
            <a:avLst/>
          </a:prstGeom>
          <a:ln w="222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844784" y="630936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19104" y="393192"/>
            <a:ext cx="164592" cy="16459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93424" y="630936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4650638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11480"/>
            <a:ext cx="4650638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8BDF8"/>
                </a:solidFill>
                <a:latin typeface="Calibri"/>
              </a:rPr>
              <a:t>2 · O COMPETIDOR COMO PRODUTO DA INDÚSTRIA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68680"/>
            <a:ext cx="10911535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Calibri"/>
              </a:rPr>
              <a:t>Cittamobi mostra o atraso, </a:t>
            </a:r>
            <a:r>
              <a:rPr sz="3000" b="1" i="0">
                <a:solidFill>
                  <a:srgbClr val="F43F5E"/>
                </a:solidFill>
                <a:latin typeface="Calibri"/>
              </a:rPr>
              <a:t>mas esquece quem desistiu.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03120"/>
            <a:ext cx="3840480" cy="3749039"/>
          </a:xfrm>
          <a:prstGeom prst="roundRect">
            <a:avLst>
              <a:gd name="adj" fmla="val 8536"/>
            </a:avLst>
          </a:prstGeom>
          <a:solidFill>
            <a:srgbClr val="1E293B"/>
          </a:solidFill>
          <a:ln w="317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57400" y="2231136"/>
            <a:ext cx="1005840" cy="128016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03120" y="5632703"/>
            <a:ext cx="914400" cy="6400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754880" y="2103120"/>
          <a:ext cx="6796735" cy="37490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97480"/>
                <a:gridCol w="2057400"/>
                <a:gridCol w="2041855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94A3B8"/>
                          </a:solidFill>
                          <a:latin typeface="Calibri"/>
                        </a:rPr>
                        <a:t>Critério na Rua</a:t>
                      </a:r>
                    </a:p>
                  </a:txBody>
                  <a:tcPr marL="128016" marR="128016" marT="54864" marB="54864" anchor="ctr">
                    <a:lnB w="22225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8FAFC"/>
                          </a:solidFill>
                          <a:latin typeface="Calibri"/>
                        </a:rPr>
                        <a:t>Cittamobi</a:t>
                      </a:r>
                    </a:p>
                  </a:txBody>
                  <a:tcPr marL="128016" marR="128016" marT="54864" marB="54864" anchor="ctr">
                    <a:lnB w="22225" cap="flat" cmpd="sng" algn="ctr">
                      <a:solidFill>
                        <a:srgbClr val="38BDF8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0B981"/>
                          </a:solidFill>
                          <a:latin typeface="Calibri"/>
                        </a:rPr>
                        <a:t>GrafoParada</a:t>
                      </a:r>
                    </a:p>
                  </a:txBody>
                  <a:tcPr marL="128016" marR="128016" marT="54864" marB="54864" anchor="ctr">
                    <a:lnB w="22225" cap="flat" cmpd="sng" algn="ctr">
                      <a:solidFill>
                        <a:srgbClr val="38BDF8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8FAFC"/>
                          </a:solidFill>
                          <a:latin typeface="Calibri"/>
                        </a:rPr>
                        <a:t>Previsão do ônibus via GPS</a:t>
                      </a:r>
                    </a:p>
                  </a:txBody>
                  <a:tcPr marL="128016" marR="128016" marT="54864" marB="54864" anchor="ctr"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  <a:r>
                        <a:rPr sz="1300" b="0" i="0">
                          <a:solidFill>
                            <a:srgbClr val="F8FAFC"/>
                          </a:solidFill>
                          <a:latin typeface="Calibri"/>
                        </a:rPr>
                        <a:t> Sim (330+ cidades)</a:t>
                      </a:r>
                    </a:p>
                  </a:txBody>
                  <a:tcPr marL="128016" marR="128016" marT="54864" marB="54864" anchor="ctr"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  <a:r>
                        <a:rPr sz="1300" b="0" i="0">
                          <a:solidFill>
                            <a:srgbClr val="F8FAFC"/>
                          </a:solidFill>
                          <a:latin typeface="Calibri"/>
                        </a:rPr>
                        <a:t> Sim (aviso por voz no fone)</a:t>
                      </a:r>
                    </a:p>
                  </a:txBody>
                  <a:tcPr marL="128016" marR="128016" marT="54864" marB="54864" anchor="ctr"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23E3E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8FAFC"/>
                          </a:solidFill>
                          <a:latin typeface="Calibri"/>
                        </a:rPr>
                        <a:t>Evita puxar celular na rua (assalto)</a:t>
                      </a:r>
                    </a:p>
                  </a:txBody>
                  <a:tcPr marL="128016" marR="128016" marT="54864" marB="54864" anchor="ctr"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43F5E"/>
                          </a:solidFill>
                          <a:latin typeface="Calibri"/>
                        </a:rPr>
                        <a:t>✘</a:t>
                      </a:r>
                      <a:r>
                        <a:rPr sz="1300" b="0" i="0">
                          <a:solidFill>
                            <a:srgbClr val="F8FAFC"/>
                          </a:solidFill>
                          <a:latin typeface="Calibri"/>
                        </a:rPr>
                        <a:t> Não (obriga a abrir na parada)</a:t>
                      </a:r>
                    </a:p>
                  </a:txBody>
                  <a:tcPr marL="128016" marR="128016" marT="54864" marB="54864" anchor="ctr"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  <a:r>
                        <a:rPr sz="1300" b="0" i="0">
                          <a:solidFill>
                            <a:srgbClr val="F8FAFC"/>
                          </a:solidFill>
                          <a:latin typeface="Calibri"/>
                        </a:rPr>
                        <a:t> Sim (rotina salva no aparelho)</a:t>
                      </a:r>
                    </a:p>
                  </a:txBody>
                  <a:tcPr marL="128016" marR="128016" marT="54864" marB="54864" anchor="ctr"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23E3E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8FAFC"/>
                          </a:solidFill>
                          <a:latin typeface="Calibri"/>
                        </a:rPr>
                        <a:t>Registra quem pegou ligeirinho/moto-táxi</a:t>
                      </a:r>
                    </a:p>
                  </a:txBody>
                  <a:tcPr marL="128016" marR="128016" marT="54864" marB="54864" anchor="ctr"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43F5E"/>
                          </a:solidFill>
                          <a:latin typeface="Calibri"/>
                        </a:rPr>
                        <a:t>✘</a:t>
                      </a:r>
                      <a:r>
                        <a:rPr sz="1300" b="0" i="0">
                          <a:solidFill>
                            <a:srgbClr val="F8FAFC"/>
                          </a:solidFill>
                          <a:latin typeface="Calibri"/>
                        </a:rPr>
                        <a:t> Não</a:t>
                      </a:r>
                    </a:p>
                  </a:txBody>
                  <a:tcPr marL="128016" marR="128016" marT="54864" marB="54864" anchor="ctr"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  <a:r>
                        <a:rPr sz="1300" b="0" i="0">
                          <a:solidFill>
                            <a:srgbClr val="F8FAFC"/>
                          </a:solidFill>
                          <a:latin typeface="Calibri"/>
                        </a:rPr>
                        <a:t> Sim (saída em km/h antes do ônibus)</a:t>
                      </a:r>
                    </a:p>
                  </a:txBody>
                  <a:tcPr marL="128016" marR="128016" marT="54864" marB="54864" anchor="ctr"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23E3E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8FAFC"/>
                          </a:solidFill>
                          <a:latin typeface="Calibri"/>
                        </a:rPr>
                        <a:t>Mostra ônibus vazio p/ realocar diesel</a:t>
                      </a:r>
                    </a:p>
                  </a:txBody>
                  <a:tcPr marL="128016" marR="128016" marT="54864" marB="54864" anchor="ctr"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43F5E"/>
                          </a:solidFill>
                          <a:latin typeface="Calibri"/>
                        </a:rPr>
                        <a:t>✘</a:t>
                      </a:r>
                      <a:r>
                        <a:rPr sz="1300" b="0" i="0">
                          <a:solidFill>
                            <a:srgbClr val="F8FAFC"/>
                          </a:solidFill>
                          <a:latin typeface="Calibri"/>
                        </a:rPr>
                        <a:t> Não</a:t>
                      </a:r>
                    </a:p>
                  </a:txBody>
                  <a:tcPr marL="128016" marR="128016" marT="54864" marB="54864" anchor="ctr"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0B981"/>
                          </a:solidFill>
                          <a:latin typeface="Calibri"/>
                        </a:rPr>
                        <a:t>✔</a:t>
                      </a:r>
                      <a:r>
                        <a:rPr sz="1300" b="0" i="0">
                          <a:solidFill>
                            <a:srgbClr val="F8FAFC"/>
                          </a:solidFill>
                          <a:latin typeface="Calibri"/>
                        </a:rPr>
                        <a:t> Sim (GPS dwell time &lt; 15s)</a:t>
                      </a:r>
                    </a:p>
                  </a:txBody>
                  <a:tcPr marL="128016" marR="128016" marT="54864" marB="54864" anchor="ctr">
                    <a:lnB w="12700" cap="flat" cmpd="sng" algn="ctr">
                      <a:solidFill>
                        <a:srgbClr val="334155"/>
                      </a:solidFill>
                      <a:prstDash val="solid"/>
                    </a:lnB>
                    <a:solidFill>
                      <a:srgbClr val="123E3E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0080" y="61722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Fonte conferida: https://www.cittamobi.com.br · Também analisados no cmp.md: Transit (Modo GO) e Optibus</a:t>
            </a:r>
          </a:p>
        </p:txBody>
      </p:sp>
      <p:pic>
        <p:nvPicPr>
          <p:cNvPr id="18" name="Picture 17" descr="print_cittamo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487168"/>
            <a:ext cx="3383280" cy="29626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10927080" y="475488"/>
            <a:ext cx="274320" cy="237744"/>
          </a:xfrm>
          <a:prstGeom prst="line">
            <a:avLst/>
          </a:prstGeom>
          <a:ln w="222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201400" y="475488"/>
            <a:ext cx="274320" cy="237744"/>
          </a:xfrm>
          <a:prstGeom prst="line">
            <a:avLst/>
          </a:prstGeom>
          <a:ln w="222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27080" y="713232"/>
            <a:ext cx="548640" cy="0"/>
          </a:xfrm>
          <a:prstGeom prst="line">
            <a:avLst/>
          </a:prstGeom>
          <a:ln w="222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844784" y="630936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19104" y="393192"/>
            <a:ext cx="164592" cy="16459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93424" y="630936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4354372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11480"/>
            <a:ext cx="4354372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8BDF8"/>
                </a:solidFill>
                <a:latin typeface="Calibri"/>
              </a:rPr>
              <a:t>3 · O COMPETIDOR COMO ARTIGO CIENTÍFICO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68680"/>
            <a:ext cx="10911535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38BDF8"/>
                </a:solidFill>
                <a:latin typeface="Calibri"/>
              </a:rPr>
              <a:t>Wang et al. (2022) </a:t>
            </a:r>
            <a:r>
              <a:rPr sz="3000" b="1" i="0">
                <a:solidFill>
                  <a:srgbClr val="F8FAFC"/>
                </a:solidFill>
                <a:latin typeface="Calibri"/>
              </a:rPr>
              <a:t>usaram buscas do app, mas só olharam a catraca.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03120"/>
            <a:ext cx="4754880" cy="3931920"/>
          </a:xfrm>
          <a:prstGeom prst="roundRect">
            <a:avLst>
              <a:gd name="adj" fmla="val 3255"/>
            </a:avLst>
          </a:prstGeom>
          <a:solidFill>
            <a:srgbClr val="1E293B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66160"/>
            <a:ext cx="4297680" cy="2331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500" b="1" i="1">
                <a:solidFill>
                  <a:srgbClr val="F8FAFC"/>
                </a:solidFill>
                <a:latin typeface="Calibri"/>
              </a:rPr>
              <a:t>“Short-term bus passenger flow prediction using trip planner request data”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Z. Wang, A. J. Pel, T. Verma, P. Krishnakumari, P. van Brakel, N. van Oort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Transportation Research Part C: Emerging Technologies (2022 · Qualis A1)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8BDF8"/>
                </a:solidFill>
                <a:latin typeface="Calibri"/>
              </a:rPr>
              <a:t>doi.org/10.1016/j.trc.2022.103790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2103120"/>
            <a:ext cx="5882335" cy="1874519"/>
          </a:xfrm>
          <a:prstGeom prst="roundRect">
            <a:avLst>
              <a:gd name="adj" fmla="val 6829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2231136"/>
            <a:ext cx="5425135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NO QUE É EXCELENTE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514600"/>
            <a:ext cx="5425135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10B981"/>
                </a:solidFill>
                <a:latin typeface="Calibri"/>
              </a:rPr>
              <a:t>-21,7%</a:t>
            </a:r>
            <a:r>
              <a:rPr sz="2200" b="1" i="0">
                <a:solidFill>
                  <a:srgbClr val="10B981"/>
                </a:solidFill>
                <a:latin typeface="Calibri"/>
              </a:rPr>
              <a:t> de erro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127248"/>
            <a:ext cx="5425135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Provou que buscas no app de rota antecipam o fluxo de passageiros antes de o ônibus chegar.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4160520"/>
            <a:ext cx="5882335" cy="1874519"/>
          </a:xfrm>
          <a:prstGeom prst="roundRect">
            <a:avLst>
              <a:gd name="adj" fmla="val 6829"/>
            </a:avLst>
          </a:prstGeom>
          <a:solidFill>
            <a:srgbClr val="1E293B"/>
          </a:solidFill>
          <a:ln w="2540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4288536"/>
            <a:ext cx="5425135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43F5E"/>
                </a:solidFill>
                <a:latin typeface="Calibri"/>
              </a:rPr>
              <a:t>ONDE FALHA NO BRASIL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4572000"/>
            <a:ext cx="5425135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43F5E"/>
                </a:solidFill>
                <a:latin typeface="Calibri"/>
              </a:rPr>
              <a:t>Cego na Parada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5184648"/>
            <a:ext cx="5425135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Treina o modelo só na catraca física. Não conta a negligência das empresas que acham normal o ônibus das 6h chegar às 6h30.</a:t>
            </a:r>
          </a:p>
        </p:txBody>
      </p:sp>
      <p:pic>
        <p:nvPicPr>
          <p:cNvPr id="23" name="Picture 22" descr="artigo_wang20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86000"/>
            <a:ext cx="429768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10927080" y="475488"/>
            <a:ext cx="274320" cy="237744"/>
          </a:xfrm>
          <a:prstGeom prst="line">
            <a:avLst/>
          </a:prstGeom>
          <a:ln w="222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201400" y="475488"/>
            <a:ext cx="274320" cy="237744"/>
          </a:xfrm>
          <a:prstGeom prst="line">
            <a:avLst/>
          </a:prstGeom>
          <a:ln w="222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27080" y="713232"/>
            <a:ext cx="548640" cy="0"/>
          </a:xfrm>
          <a:prstGeom prst="line">
            <a:avLst/>
          </a:prstGeom>
          <a:ln w="222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844784" y="630936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19104" y="393192"/>
            <a:ext cx="164592" cy="16459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93424" y="630936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5539435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11480"/>
            <a:ext cx="553943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8BDF8"/>
                </a:solidFill>
                <a:latin typeface="Calibri"/>
              </a:rPr>
              <a:t>4 · DIFERENCIAL E PERGUNTA CIENTÍFICA (PILOTO REAL)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68680"/>
            <a:ext cx="10911535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8FAFC"/>
                </a:solidFill>
                <a:latin typeface="Calibri"/>
              </a:rPr>
              <a:t>O celular zerou gargalos sem aviso — </a:t>
            </a:r>
            <a:r>
              <a:rPr sz="3000" b="1" i="0">
                <a:solidFill>
                  <a:srgbClr val="F59E0B"/>
                </a:solidFill>
                <a:latin typeface="Calibri"/>
              </a:rPr>
              <a:t>e na linha reta o simples venceu.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03120"/>
            <a:ext cx="10911535" cy="1005840"/>
          </a:xfrm>
          <a:prstGeom prst="roundRect">
            <a:avLst>
              <a:gd name="adj" fmla="val 10909"/>
            </a:avLst>
          </a:prstGeom>
          <a:solidFill>
            <a:srgbClr val="0F172A"/>
          </a:solidFill>
          <a:ln w="222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12848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8BDF8"/>
                </a:solidFill>
                <a:latin typeface="Calibri"/>
              </a:rPr>
              <a:t>PERGUNTA CIENTÍFICA</a:t>
            </a:r>
          </a:p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F8FAFC"/>
                </a:solidFill>
                <a:latin typeface="Calibri"/>
              </a:rPr>
              <a:t>“Cruzar dados do celular com paradas anteriores alerta atrasos críticos a tempo, e uma STGCN supera um modelo simples nisso?”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37560"/>
            <a:ext cx="3454298" cy="2834640"/>
          </a:xfrm>
          <a:prstGeom prst="roundRect">
            <a:avLst>
              <a:gd name="adj" fmla="val 4516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3474720"/>
            <a:ext cx="310682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ALERTA DE DESISTÊNCIA &gt; 40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" y="3767328"/>
            <a:ext cx="310682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43F5E"/>
                </a:solidFill>
                <a:latin typeface="Calibri"/>
              </a:rPr>
              <a:t>28%</a:t>
            </a:r>
            <a:r>
              <a:rPr sz="3600" b="1" i="0">
                <a:solidFill>
                  <a:srgbClr val="94A3B8"/>
                </a:solidFill>
                <a:latin typeface="Calibri"/>
              </a:rPr>
              <a:t> → </a:t>
            </a:r>
            <a:r>
              <a:rPr sz="4000" b="1" i="0">
                <a:solidFill>
                  <a:srgbClr val="10B981"/>
                </a:solidFill>
                <a:latin typeface="Calibri"/>
              </a:rPr>
              <a:t>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" y="4453128"/>
            <a:ext cx="3106826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Gargalos críticos sem aviso caíram de 28% (sem celular) para 0% com o z-score de buscas.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" y="53309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Sem celular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19656" y="5385816"/>
            <a:ext cx="1463040" cy="16459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819656" y="5385816"/>
            <a:ext cx="1463040" cy="164592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5848" y="533095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43F5E"/>
                </a:solidFill>
                <a:latin typeface="Calibri"/>
              </a:rPr>
              <a:t>28%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" y="5678424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Com celular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19656" y="5733288"/>
            <a:ext cx="1463040" cy="16459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819656" y="5733288"/>
            <a:ext cx="82296" cy="16459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55848" y="567842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8698" y="3337560"/>
            <a:ext cx="3454298" cy="2834640"/>
          </a:xfrm>
          <a:prstGeom prst="roundRect">
            <a:avLst>
              <a:gd name="adj" fmla="val 4516"/>
            </a:avLst>
          </a:prstGeom>
          <a:solidFill>
            <a:srgbClr val="1E293B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2434" y="3474720"/>
            <a:ext cx="310682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ACHADO HONESTO NO PILOTO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2434" y="3767328"/>
            <a:ext cx="310682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0B981"/>
                </a:solidFill>
                <a:latin typeface="Calibri"/>
              </a:rPr>
              <a:t>2,46</a:t>
            </a:r>
            <a:r>
              <a:rPr sz="2800" b="1" i="0">
                <a:solidFill>
                  <a:srgbClr val="94A3B8"/>
                </a:solidFill>
                <a:latin typeface="Calibri"/>
              </a:rPr>
              <a:t> vs </a:t>
            </a:r>
            <a:r>
              <a:rPr sz="3600" b="1" i="0">
                <a:solidFill>
                  <a:srgbClr val="F59E0B"/>
                </a:solidFill>
                <a:latin typeface="Calibri"/>
              </a:rPr>
              <a:t>4,42</a:t>
            </a:r>
            <a:r>
              <a:rPr sz="2000" b="1" i="0">
                <a:solidFill>
                  <a:srgbClr val="94A3B8"/>
                </a:solidFill>
                <a:latin typeface="Calibri"/>
              </a:rPr>
              <a:t>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2434" y="4453128"/>
            <a:ext cx="3106826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Em corredor reto curto (5 paradas: P1+P2+P3), o cálculo simples superou a STGCN (34.627 pesos).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2434" y="53309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Simples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48274" y="5385816"/>
            <a:ext cx="1463040" cy="16459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548274" y="5385816"/>
            <a:ext cx="814271" cy="16459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84466" y="533095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2,46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2434" y="5678424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STGCN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48274" y="5733288"/>
            <a:ext cx="1463040" cy="16459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548274" y="5733288"/>
            <a:ext cx="1463040" cy="16459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84466" y="567842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4,42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7316" y="3337560"/>
            <a:ext cx="3454298" cy="2834640"/>
          </a:xfrm>
          <a:prstGeom prst="roundRect">
            <a:avLst>
              <a:gd name="adj" fmla="val 4516"/>
            </a:avLst>
          </a:prstGeom>
          <a:solidFill>
            <a:srgbClr val="1E293B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1052" y="3474720"/>
            <a:ext cx="310682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8BDF8"/>
                </a:solidFill>
                <a:latin typeface="Calibri"/>
              </a:rPr>
              <a:t>DECISÃO NO PAINEL · PASSO 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1052" y="3767328"/>
            <a:ext cx="310682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94A3B8"/>
                </a:solidFill>
                <a:latin typeface="Calibri"/>
              </a:rPr>
              <a:t>20%</a:t>
            </a:r>
            <a:r>
              <a:rPr sz="3600" b="1" i="0">
                <a:solidFill>
                  <a:srgbClr val="94A3B8"/>
                </a:solidFill>
                <a:latin typeface="Calibri"/>
              </a:rPr>
              <a:t> → </a:t>
            </a:r>
            <a:r>
              <a:rPr sz="4000" b="1" i="0">
                <a:solidFill>
                  <a:srgbClr val="38BDF8"/>
                </a:solidFill>
                <a:latin typeface="Calibri"/>
              </a:rPr>
              <a:t>97%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1052" y="4453128"/>
            <a:ext cx="3106826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Acerto na redistribuição de frota subiu de 20% (planilha de catraca) para 97% com selo [?] e GPS bruto.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1052" y="53309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Catraca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76892" y="5385816"/>
            <a:ext cx="1463040" cy="16459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276892" y="5385816"/>
            <a:ext cx="292608" cy="164592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13084" y="533095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94A3B8"/>
                </a:solidFill>
                <a:latin typeface="Calibri"/>
              </a:rPr>
              <a:t>20%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1052" y="5678424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Selo + GPS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76892" y="5733288"/>
            <a:ext cx="1463040" cy="16459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276892" y="5733288"/>
            <a:ext cx="1419148" cy="164592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813084" y="567842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8BDF8"/>
                </a:solidFill>
                <a:latin typeface="Calibri"/>
              </a:rPr>
              <a:t>97%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10927080" y="475488"/>
            <a:ext cx="274320" cy="237744"/>
          </a:xfrm>
          <a:prstGeom prst="line">
            <a:avLst/>
          </a:prstGeom>
          <a:ln w="222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201400" y="475488"/>
            <a:ext cx="274320" cy="237744"/>
          </a:xfrm>
          <a:prstGeom prst="line">
            <a:avLst/>
          </a:prstGeom>
          <a:ln w="222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27080" y="713232"/>
            <a:ext cx="548640" cy="0"/>
          </a:xfrm>
          <a:prstGeom prst="line">
            <a:avLst/>
          </a:prstGeom>
          <a:ln w="222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844784" y="630936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19104" y="393192"/>
            <a:ext cx="164592" cy="16459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93424" y="630936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411480"/>
            <a:ext cx="336682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11480"/>
            <a:ext cx="33668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8BDF8"/>
                </a:solidFill>
                <a:latin typeface="Calibri"/>
              </a:rPr>
              <a:t>5 · FECHO · RESPOSTAS À BANCA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68680"/>
            <a:ext cx="10911535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B981"/>
                </a:solidFill>
                <a:latin typeface="Calibri"/>
              </a:rPr>
              <a:t>Mais ônibus onde o povo espera. </a:t>
            </a:r>
            <a:r>
              <a:rPr sz="3000" b="1" i="0">
                <a:solidFill>
                  <a:srgbClr val="F8FAFC"/>
                </a:solidFill>
                <a:latin typeface="Calibri"/>
              </a:rPr>
              <a:t>Menos diesel queimado no vazio.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03120"/>
            <a:ext cx="3454298" cy="3154680"/>
          </a:xfrm>
          <a:prstGeom prst="roundRect">
            <a:avLst>
              <a:gd name="adj" fmla="val 4057"/>
            </a:avLst>
          </a:prstGeom>
          <a:solidFill>
            <a:srgbClr val="1E293B"/>
          </a:solidFill>
          <a:ln w="254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304288"/>
            <a:ext cx="329184" cy="329184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0428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7592" y="2286000"/>
            <a:ext cx="2558186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Calibri"/>
              </a:rPr>
              <a:t>Privacidade LGPD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2997098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38BDF8"/>
                </a:solidFill>
                <a:latin typeface="Calibri"/>
              </a:rPr>
              <a:t>358,2 MB</a:t>
            </a:r>
            <a:r>
              <a:rPr sz="2200" b="1" i="0">
                <a:solidFill>
                  <a:srgbClr val="38BDF8"/>
                </a:solidFill>
                <a:latin typeface="Calibri"/>
              </a:rPr>
              <a:t> 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49039"/>
            <a:ext cx="299709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Rotina fica salva só no celular do usuário. Servidor agrega em janela de 10 min na RAM e apaga o IP.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8698" y="2103120"/>
            <a:ext cx="3454298" cy="3154680"/>
          </a:xfrm>
          <a:prstGeom prst="roundRect">
            <a:avLst>
              <a:gd name="adj" fmla="val 4057"/>
            </a:avLst>
          </a:prstGeom>
          <a:solidFill>
            <a:srgbClr val="1E293B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97298" y="2304288"/>
            <a:ext cx="329184" cy="3291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7298" y="230428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6210" y="2286000"/>
            <a:ext cx="2558186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Calibri"/>
              </a:rPr>
              <a:t>Como detecta a desistência?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7298" y="2834639"/>
            <a:ext cx="2997098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F59E0B"/>
                </a:solidFill>
                <a:latin typeface="Calibri"/>
              </a:rPr>
              <a:t>km/h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7298" y="3749039"/>
            <a:ext cx="299709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Se o usuário sai da parada em km/h de veículo ANTES do GPS do ônibus chegar = pegou alternativo.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7316" y="2103120"/>
            <a:ext cx="3454298" cy="3154680"/>
          </a:xfrm>
          <a:prstGeom prst="roundRect">
            <a:avLst>
              <a:gd name="adj" fmla="val 4057"/>
            </a:avLst>
          </a:prstGeom>
          <a:solidFill>
            <a:srgbClr val="1E293B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25916" y="2304288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5916" y="230428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4828" y="2286000"/>
            <a:ext cx="2558186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Calibri"/>
              </a:rPr>
              <a:t>E onde ninguém tem smartphone?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5916" y="2834639"/>
            <a:ext cx="2997098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10B981"/>
                </a:solidFill>
                <a:latin typeface="Calibri"/>
              </a:rPr>
              <a:t>≥ 15 s</a:t>
            </a:r>
            <a:r>
              <a:rPr sz="2200" b="1" i="0">
                <a:solidFill>
                  <a:srgbClr val="10B981"/>
                </a:solidFill>
                <a:latin typeface="Calibri"/>
              </a:rPr>
              <a:t> parado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5916" y="3749039"/>
            <a:ext cx="299709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“O ônibus uma hora precisa parar”: se o GPS do veículo parou ≥ 15s na parada, há embarque e o horário é protegido.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486400"/>
            <a:ext cx="10911535" cy="685800"/>
          </a:xfrm>
          <a:prstGeom prst="roundRect">
            <a:avLst>
              <a:gd name="adj" fmla="val 18666"/>
            </a:avLst>
          </a:prstGeom>
          <a:solidFill>
            <a:srgbClr val="0F172A"/>
          </a:solidFill>
          <a:ln w="222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486400"/>
            <a:ext cx="10362895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0B981"/>
                </a:solidFill>
                <a:latin typeface="Calibri"/>
              </a:rPr>
              <a:t>Obrigado!</a:t>
            </a:r>
            <a:r>
              <a:rPr sz="1400" b="0" i="0">
                <a:solidFill>
                  <a:srgbClr val="F8FAFC"/>
                </a:solidFill>
                <a:latin typeface="Calibri"/>
              </a:rPr>
              <a:t>  ·  Cauã da Cunha Lira (caua.lira@ufrpe.br)  ·  github.com/lira-labs/workspace/blob/main/va2/sem1.md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GrafoParada · Frota no Vazio — Seminário 1</dc:title>
  <dc:subject/>
  <dc:creator>Cauã da Cunha Lira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