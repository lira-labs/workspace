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645920"/>
            <a:ext cx="3474720" cy="41148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DISCIPLINA DE EAD · 1ª VA · UFRPE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286000"/>
            <a:ext cx="8138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B4B"/>
                </a:solidFill>
              </a:defRPr>
            </a:pPr>
            <a:r>
              <a:t>Avaliação e Melhoria de Tutores Virtuais</a:t>
            </a:r>
          </a:p>
          <a:p>
            <a:pPr>
              <a:spcBef>
                <a:spcPts val="1200"/>
              </a:spcBef>
              <a:defRPr sz="1800">
                <a:solidFill>
                  <a:srgbClr val="6D28D9"/>
                </a:solidFill>
              </a:defRPr>
            </a:pPr>
            <a:r>
              <a:t>Como testar, medir e revisar a qualidade pedagógica de um assistente de IA</a:t>
            </a:r>
          </a:p>
          <a:p>
            <a:pPr>
              <a:spcBef>
                <a:spcPts val="2800"/>
              </a:spcBef>
              <a:defRPr sz="1300">
                <a:solidFill>
                  <a:srgbClr val="6B7280"/>
                </a:solidFill>
              </a:defRPr>
            </a:pPr>
            <a:r>
              <a:t>Cauã Lira · Licenciatura em Computação ·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ROTEIRO DA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O Que Veremos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Cauã Lira · Licenciatura em Computação · UFRPE · EAD 1ª 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731520" cy="64008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D28D9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1B4B"/>
                </a:solidFill>
              </a:defRPr>
            </a:pPr>
            <a:r>
              <a:t>Contexto &amp; Fundamentação</a:t>
            </a:r>
          </a:p>
          <a:p>
            <a:pPr>
              <a:spcBef>
                <a:spcPts val="400"/>
              </a:spcBef>
              <a:defRPr sz="1200">
                <a:solidFill>
                  <a:srgbClr val="6B7280"/>
                </a:solidFill>
              </a:defRPr>
            </a:pPr>
            <a:r>
              <a:t>Por que avaliar tutores de IA e qual o impacto no aprendizado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880360"/>
            <a:ext cx="731520" cy="64008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D28D9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62072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1B4B"/>
                </a:solidFill>
              </a:defRPr>
            </a:pPr>
            <a:r>
              <a:t>Critérios de Qualidade</a:t>
            </a:r>
          </a:p>
          <a:p>
            <a:pPr>
              <a:spcBef>
                <a:spcPts val="400"/>
              </a:spcBef>
              <a:defRPr sz="1200">
                <a:solidFill>
                  <a:srgbClr val="6B7280"/>
                </a:solidFill>
              </a:defRPr>
            </a:pPr>
            <a:r>
              <a:t>Os 4 parâmetros essenciais: correção, clareza, público e dúvidas.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4023360"/>
            <a:ext cx="731520" cy="64008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D28D9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005072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1B4B"/>
                </a:solidFill>
              </a:defRPr>
            </a:pPr>
            <a:r>
              <a:t>Demonstração Prática</a:t>
            </a:r>
          </a:p>
          <a:p>
            <a:pPr>
              <a:spcBef>
                <a:spcPts val="400"/>
              </a:spcBef>
              <a:defRPr sz="1200">
                <a:solidFill>
                  <a:srgbClr val="6B7280"/>
                </a:solidFill>
              </a:defRPr>
            </a:pPr>
            <a:r>
              <a:t>Aplicação da bateria de 5 casos de teste e pontuação.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5166360"/>
            <a:ext cx="731520" cy="64008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D28D9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148072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1B4B"/>
                </a:solidFill>
              </a:defRPr>
            </a:pPr>
            <a:r>
              <a:t>Revisão e Refinamento</a:t>
            </a:r>
          </a:p>
          <a:p>
            <a:pPr>
              <a:spcBef>
                <a:spcPts val="400"/>
              </a:spcBef>
              <a:defRPr sz="1200">
                <a:solidFill>
                  <a:srgbClr val="6B7280"/>
                </a:solidFill>
              </a:defRPr>
            </a:pPr>
            <a:r>
              <a:t>Ajuste de instruções (Prompts) e ciclo contínuo de validação.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FUNDAMENTAÇÃO TEÓRICA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Evolução dos Sistemas de Apoio ao Aluno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Cauã Lira · Licenciatura em Computação · UFRPE · EAD 1ª 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6499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816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B4B"/>
                </a:solidFill>
              </a:defRPr>
            </a:pPr>
            <a:r>
              <a:t>Chatbot Simples</a:t>
            </a:r>
          </a:p>
          <a:p>
            <a:pPr>
              <a:spcBef>
                <a:spcPts val="400"/>
              </a:spcBef>
              <a:defRPr sz="1100" b="1">
                <a:solidFill>
                  <a:srgbClr val="6D28D9"/>
                </a:solidFill>
              </a:defRPr>
            </a:pPr>
            <a:r>
              <a:t>Respostas pré-programadas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Baseado em árvores de decisão e regras fixas.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Não interpreta contexto complexo nem aprende.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Limita-se a menus e scripts predefinidos.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554480"/>
            <a:ext cx="336499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7" y="1828800"/>
            <a:ext cx="2816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B4B"/>
                </a:solidFill>
              </a:defRPr>
            </a:pPr>
            <a:r>
              <a:t>Assistente Geral de IA</a:t>
            </a:r>
          </a:p>
          <a:p>
            <a:pPr>
              <a:spcBef>
                <a:spcPts val="400"/>
              </a:spcBef>
              <a:defRPr sz="1100" b="1">
                <a:solidFill>
                  <a:srgbClr val="6D28D9"/>
                </a:solidFill>
              </a:defRPr>
            </a:pPr>
            <a:r>
              <a:t>Modelos de linguagem (LLMs)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Responde perguntas abertas em linguagem natural.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Gera explicações amplas com base em dados.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Risco de entregar a solução pronta sem mediação.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4" y="1554480"/>
            <a:ext cx="3364992" cy="43891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4" y="1828800"/>
            <a:ext cx="2816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B4B"/>
                </a:solidFill>
              </a:defRPr>
            </a:pPr>
            <a:r>
              <a:t>Tutor Inteligente</a:t>
            </a:r>
          </a:p>
          <a:p>
            <a:pPr>
              <a:spcBef>
                <a:spcPts val="400"/>
              </a:spcBef>
              <a:defRPr sz="1100" b="1">
                <a:solidFill>
                  <a:srgbClr val="6D28D9"/>
                </a:solidFill>
              </a:defRPr>
            </a:pPr>
            <a:r>
              <a:t>Orientação pedagógica intencional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Aplica o método socrático: guia passo a passo.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Adapta o vocabulário ao nível do aluno.</a:t>
            </a:r>
          </a:p>
          <a:p>
            <a:pPr>
              <a:spcBef>
                <a:spcPts val="1000"/>
              </a:spcBef>
              <a:defRPr sz="1300">
                <a:solidFill>
                  <a:srgbClr val="1F2937"/>
                </a:solidFill>
              </a:defRPr>
            </a:pPr>
            <a:r>
              <a:t>• Exemplos práticos: Claude Projects e Gemini Gems.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DIAGNÓSTICO &amp; ESTATÍSTICAS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Por Que Devemos Avaliar Tutores de 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Cauã Lira · Licenciatura em Computação · UFRPE · EAD 1ª 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6D28D9"/>
                </a:solidFill>
              </a:defRPr>
            </a:pPr>
            <a:r>
              <a:t>48%</a:t>
            </a:r>
          </a:p>
          <a:p>
            <a:pPr>
              <a:spcBef>
                <a:spcPts val="800"/>
              </a:spcBef>
              <a:defRPr sz="1600" b="1">
                <a:solidFill>
                  <a:srgbClr val="1E1B4B"/>
                </a:solidFill>
              </a:defRPr>
            </a:pPr>
            <a:r>
              <a:t>dos estudantes brasileiros usam chatbots semanalmente para estudar.</a:t>
            </a:r>
          </a:p>
          <a:p>
            <a:pPr>
              <a:spcBef>
                <a:spcPts val="1600"/>
              </a:spcBef>
              <a:defRPr sz="1200">
                <a:solidFill>
                  <a:srgbClr val="6B7280"/>
                </a:solidFill>
              </a:defRPr>
            </a:pPr>
            <a:r>
              <a:t>Fonte: OCDE / Relatório PISA 2025</a:t>
            </a:r>
            <a:br/>
            <a:r>
              <a:t>• Média OCDE: 46%</a:t>
            </a:r>
            <a:br/>
            <a:r>
              <a:t>• Nunca usam IA (Brasil): apenas 11%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3891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O Desafio das Alucinações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Modelos generativos produzem dados incorretos com linguagem convincente: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⚠  Citação de referências e artigos inexistentes.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⚠  Apresentação de dados estatísticos com precisão enganosa.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⚠  Afirmações incorretas transmitidas com autoridade.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</a:defRPr>
            </a:pPr>
            <a:r>
              <a:t>⚠  Taxa de erro superior a 10% em documentos extensos.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MÉTRICA PEDAGÓGICA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Os 4 Critérios Fundamentais de Avaliação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Cauã Lira · Licenciatura em Computação · UFRPE · EAD 1ª 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1B4B"/>
                </a:solidFill>
              </a:defRPr>
            </a:pPr>
            <a:r>
              <a:t>01. Correção Conceitual</a:t>
            </a:r>
          </a:p>
          <a:p>
            <a:pPr>
              <a:spcBef>
                <a:spcPts val="300"/>
              </a:spcBef>
              <a:defRPr sz="1000" b="1">
                <a:solidFill>
                  <a:srgbClr val="6D28D9"/>
                </a:solidFill>
              </a:defRPr>
            </a:pPr>
            <a:r>
              <a:t>PRECISÃO FACTUAL RIGOROSA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t>Verificar se as explicações contêm distorções conceituais, equívocos teóricos ou alucinações de dados.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1B4B"/>
                </a:solidFill>
              </a:defRPr>
            </a:pPr>
            <a:r>
              <a:t>02. Clareza &amp; Didática</a:t>
            </a:r>
          </a:p>
          <a:p>
            <a:pPr>
              <a:spcBef>
                <a:spcPts val="300"/>
              </a:spcBef>
              <a:defRPr sz="1000" b="1">
                <a:solidFill>
                  <a:srgbClr val="6D28D9"/>
                </a:solidFill>
              </a:defRPr>
            </a:pPr>
            <a:r>
              <a:t>COMPREENSÃO IMEDIATA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t>Avaliar a organização do raciocínio, uso de analogias e ausência de complexidade desnecessária.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1B4B"/>
                </a:solidFill>
              </a:defRPr>
            </a:pPr>
            <a:r>
              <a:t>03. Adequação ao Público</a:t>
            </a:r>
          </a:p>
          <a:p>
            <a:pPr>
              <a:spcBef>
                <a:spcPts val="300"/>
              </a:spcBef>
              <a:defRPr sz="1000" b="1">
                <a:solidFill>
                  <a:srgbClr val="6D28D9"/>
                </a:solidFill>
              </a:defRPr>
            </a:pPr>
            <a:r>
              <a:t>CALIBRAGEM LINGUÍSTICA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t>Garantir que a linguagem e o tom estejam estritamente alinhados ao nível do estudante (iniciante vs avançado).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1B4B"/>
                </a:solidFill>
              </a:defRPr>
            </a:pPr>
            <a:r>
              <a:t>04. Tratamento de Dúvidas</a:t>
            </a:r>
          </a:p>
          <a:p>
            <a:pPr>
              <a:spcBef>
                <a:spcPts val="300"/>
              </a:spcBef>
              <a:defRPr sz="1000" b="1">
                <a:solidFill>
                  <a:srgbClr val="6D28D9"/>
                </a:solidFill>
              </a:defRPr>
            </a:pPr>
            <a:r>
              <a:t>MEDIAÇÃO SOCRÁTICA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t>Avaliar a postura do tutor diante de perguntas ambíguas ou vagas, demandando contexto antes de responder.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PROTOCOLO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Os 5 Casos de Teste Estruturados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Cauã Lira · Licenciatura em Computação · UFRPE · EAD 1ª 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6420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Caso 01 · Correção Conceitual: </a:t>
            </a:r>
            <a:r>
              <a:rPr b="0">
                <a:solidFill>
                  <a:srgbClr val="6B7280"/>
                </a:solidFill>
              </a:rPr>
              <a:t>Pergunta direta: </a:t>
            </a:r>
            <a:r>
              <a:rPr b="1">
                <a:solidFill>
                  <a:srgbClr val="1E1B4B"/>
                </a:solidFill>
              </a:rPr>
              <a:t>"Qual é a diferença entre compilador e interpretador?"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87168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Caso 02 · Clareza &amp; Sequência: </a:t>
            </a:r>
            <a:r>
              <a:rPr b="0">
                <a:solidFill>
                  <a:srgbClr val="6B7280"/>
                </a:solidFill>
              </a:rPr>
              <a:t>Explicação gradual: </a:t>
            </a:r>
            <a:r>
              <a:rPr b="1">
                <a:solidFill>
                  <a:srgbClr val="1E1B4B"/>
                </a:solidFill>
              </a:rPr>
              <a:t>"Como funciona o laço 'for' em Python? Me explique do início."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19856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9584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Caso 03 · Adequação ao Público: </a:t>
            </a:r>
            <a:r>
              <a:rPr b="0">
                <a:solidFill>
                  <a:srgbClr val="6B7280"/>
                </a:solidFill>
              </a:rPr>
              <a:t>Pergunta de aluno leigo: </a:t>
            </a:r>
            <a:r>
              <a:rPr b="1">
                <a:solidFill>
                  <a:srgbClr val="1E1B4B"/>
                </a:solidFill>
              </a:rPr>
              <a:t>"Não entendi nada de variável. Pode explicar bem simples?"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6227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Caso 04 · Tratamento de Dúvidas: </a:t>
            </a:r>
            <a:r>
              <a:rPr b="0">
                <a:solidFill>
                  <a:srgbClr val="6B7280"/>
                </a:solidFill>
              </a:rPr>
              <a:t>Pergunta propositalmente vaga: </a:t>
            </a:r>
            <a:r>
              <a:rPr b="1">
                <a:solidFill>
                  <a:srgbClr val="1E1B4B"/>
                </a:solidFill>
              </a:rPr>
              <a:t>"Como que funciona aquela coisa que guarda dado?"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85232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949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D28D9"/>
                </a:solidFill>
              </a:defRPr>
            </a:pPr>
            <a:r>
              <a:t>Caso 05 · Limites de Escopo: </a:t>
            </a:r>
            <a:r>
              <a:rPr b="0">
                <a:solidFill>
                  <a:srgbClr val="6B7280"/>
                </a:solidFill>
              </a:rPr>
              <a:t>Pergunta fora da disciplina: </a:t>
            </a:r>
            <a:r>
              <a:rPr b="1">
                <a:solidFill>
                  <a:srgbClr val="1E1B4B"/>
                </a:solidFill>
              </a:rPr>
              <a:t>"Pode fazer meu resumo sobre a Independência do Brasil?"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DEMONSTRAÇÃO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Matriz de Avaliação dos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Cauã Lira · Licenciatura em Computação · UFRPE · EAD 1ª 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828800"/>
          <a:ext cx="1018001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377440"/>
                <a:gridCol w="1188720"/>
                <a:gridCol w="5699455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E1B4B"/>
                          </a:solidFill>
                        </a:defRPr>
                      </a:pPr>
                      <a:r>
                        <a:t>Caso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1E1B4B"/>
                          </a:solidFill>
                        </a:defRPr>
                      </a:pPr>
                      <a:r>
                        <a:t>Critério Avaliado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E1B4B"/>
                          </a:solidFill>
                        </a:defRPr>
                      </a:pPr>
                      <a:r>
                        <a:t>Nota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1E1B4B"/>
                          </a:solidFill>
                        </a:defRPr>
                      </a:pPr>
                      <a:r>
                        <a:t>Diagnóstico Pedagógico</a:t>
                      </a:r>
                    </a:p>
                  </a:txBody>
                  <a:tcPr anchor="ctr">
                    <a:solidFill>
                      <a:srgbClr val="F5F3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Correção Conceitual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 /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Resposta correta e consistente, mas sem aplicação prática.</a:t>
                      </a:r>
                    </a:p>
                  </a:txBody>
                  <a:tcPr anchor="ctr"/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Clareza &amp; Sequência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 /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Explicação precisa, porém ritmo acelerado para nível básico.</a:t>
                      </a:r>
                    </a:p>
                  </a:txBody>
                  <a:tcPr anchor="ctr"/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Adequação ao Público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2 /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Uso excessivo de termos técnicos sem contextualização prévia.</a:t>
                      </a:r>
                    </a:p>
                  </a:txBody>
                  <a:tcPr anchor="ctr"/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Tratamento de Dúvidas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 /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Solicitou contexto ao aluno antes de emitir a resposta definitiva.</a:t>
                      </a:r>
                    </a:p>
                  </a:txBody>
                  <a:tcPr anchor="ctr"/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Limites de Escopo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 /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Recusou educadamente e direcionou o estudante ao seu foco.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ENGENHARIA PEDAGÓGICA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Revisão das Instruções com Base nos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Cauã Lira · Licenciatura em Computação · UFRPE · EAD 1ª 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B4B"/>
                </a:solidFill>
              </a:defRPr>
            </a:pPr>
            <a:r>
              <a:t>Instrução Original (Genérica)</a:t>
            </a:r>
          </a:p>
          <a:p>
            <a:pPr>
              <a:spcBef>
                <a:spcPts val="400"/>
              </a:spcBef>
              <a:defRPr sz="1000" b="1">
                <a:solidFill>
                  <a:srgbClr val="DC2626"/>
                </a:solidFill>
              </a:defRPr>
            </a:pPr>
            <a:r>
              <a:t>DESEMPENHO NO CASO 03: NOTA 2 / 5</a:t>
            </a:r>
          </a:p>
          <a:p>
            <a:pPr>
              <a:spcBef>
                <a:spcPts val="1600"/>
              </a:spcBef>
              <a:defRPr sz="1300" i="1">
                <a:solidFill>
                  <a:srgbClr val="1F2937"/>
                </a:solidFill>
              </a:defRPr>
            </a:pPr>
            <a:r>
              <a:t>"Você é um tutor de programação. Responda às dúvidas dos alunos."</a:t>
            </a:r>
          </a:p>
          <a:p>
            <a:pPr>
              <a:spcBef>
                <a:spcPts val="1600"/>
              </a:spcBef>
              <a:defRPr sz="1200">
                <a:solidFill>
                  <a:srgbClr val="6B7280"/>
                </a:solidFill>
              </a:defRPr>
            </a:pPr>
            <a:r>
              <a:t>Problemas Identificados:</a:t>
            </a:r>
            <a:br/>
            <a:r>
              <a:t>• Não define o nível do estudante.</a:t>
            </a:r>
            <a:br/>
            <a:r>
              <a:t>• Não especifica metodologia didática.</a:t>
            </a:r>
            <a:br/>
            <a:r>
              <a:t>• Entrega respostas prontas e jargões avançados.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3891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B4B"/>
                </a:solidFill>
              </a:defRPr>
            </a:pPr>
            <a:r>
              <a:t>Instrução Revisada (Pedagógica)</a:t>
            </a:r>
          </a:p>
          <a:p>
            <a:pPr>
              <a:spcBef>
                <a:spcPts val="400"/>
              </a:spcBef>
              <a:defRPr sz="1000" b="1">
                <a:solidFill>
                  <a:srgbClr val="6D28D9"/>
                </a:solidFill>
              </a:defRPr>
            </a:pPr>
            <a:r>
              <a:t>RETESTE DO CASO 03: NOTA 4 / 5</a:t>
            </a:r>
          </a:p>
          <a:p>
            <a:pPr>
              <a:spcBef>
                <a:spcPts val="1600"/>
              </a:spcBef>
              <a:defRPr sz="1300" i="1">
                <a:solidFill>
                  <a:srgbClr val="1F2937"/>
                </a:solidFill>
              </a:defRPr>
            </a:pPr>
            <a:r>
              <a:t>"Você é um tutor de apoio. Use o método socrático: guie com perguntas em vez de dar respostas diretas. Explique com analogias cotidianas e sem jargões para estudantes iniciantes."</a:t>
            </a:r>
          </a:p>
          <a:p>
            <a:pPr>
              <a:spcBef>
                <a:spcPts val="1600"/>
              </a:spcBef>
              <a:defRPr sz="1200">
                <a:solidFill>
                  <a:srgbClr val="1E1B4B"/>
                </a:solidFill>
              </a:defRPr>
            </a:pPr>
            <a:r>
              <a:t>Ganhos Obtidos:</a:t>
            </a:r>
            <a:br/>
            <a:r>
              <a:t>• Estímulo à autonomia intelectual do estudante.</a:t>
            </a:r>
            <a:br/>
            <a:r>
              <a:t>• Explicações fundamentadas no universo do aluno.</a:t>
            </a:r>
            <a:br/>
            <a:r>
              <a:t>• Mediação gradual e personalizada.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METODOLOGIA CONTÍNUA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O Ciclo de Refinamento do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Cauã Lira · Licenciatura em Computação · UFRPE · EAD 1ª 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231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011680"/>
            <a:ext cx="640080" cy="6400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1874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B4B"/>
                </a:solidFill>
              </a:defRPr>
            </a:pPr>
            <a:r>
              <a:t>Testar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Submeter o tutor à bateria de casos de teste estruturados.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737360"/>
            <a:ext cx="24231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67328" y="2011680"/>
            <a:ext cx="640080" cy="6400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834640"/>
            <a:ext cx="1874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B4B"/>
                </a:solidFill>
              </a:defRPr>
            </a:pPr>
            <a:r>
              <a:t>Registrar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Mensurar os parâmetros de clareza, correção e adequação.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37360"/>
            <a:ext cx="24231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28816" y="2011680"/>
            <a:ext cx="640080" cy="6400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834640"/>
            <a:ext cx="1874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B4B"/>
                </a:solidFill>
              </a:defRPr>
            </a:pPr>
            <a:r>
              <a:t>Revisar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Reestruturar instruções no System Prompt com método pedagógico.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984" y="1737360"/>
            <a:ext cx="24231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90304" y="2011680"/>
            <a:ext cx="640080" cy="6400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2834640"/>
            <a:ext cx="1874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B4B"/>
                </a:solidFill>
              </a:defRPr>
            </a:pPr>
            <a:r>
              <a:t>Validar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t>Retestar os pontos frágeis e consolidar a versão estável.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728655" cy="7315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1B4B"/>
                </a:solidFill>
              </a:defRPr>
            </a:pPr>
            <a:r>
              <a:t>Processo Iterativo: A avaliação de assistentes pedagógicos não é pontual, mas uma prática contínua de curadoria.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REFERÊNCIAS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Tutores de IA em Ação no Cenário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Cauã Lira · Licenciatura em Computação · UFRPE · EAD 1ª 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PALESTRA TED: SAL KHAN</a:t>
            </a:r>
          </a:p>
          <a:p>
            <a:pPr>
              <a:spcBef>
                <a:spcPts val="400"/>
              </a:spcBef>
              <a:defRPr sz="1800" b="1">
                <a:solidFill>
                  <a:srgbClr val="1E1B4B"/>
                </a:solidFill>
              </a:defRPr>
            </a:pPr>
            <a:r>
              <a:t>Como a IA Pode Salvar a Educação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• Apresentação seminal do fundador da Khan Academy.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• Demonstração prática do tutor Khanmigo.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• Foco na mediação socrática em vez de entrega de respostas.</a:t>
            </a:r>
          </a:p>
          <a:p>
            <a:pPr>
              <a:spcBef>
                <a:spcPts val="2000"/>
              </a:spcBef>
              <a:defRPr sz="1100" b="1">
                <a:solidFill>
                  <a:srgbClr val="6D28D9"/>
                </a:solidFill>
              </a:defRPr>
            </a:pPr>
            <a:r>
              <a:t>Link de Acesso: https://www.youtube.com/watch?v=hJP5GqnTrNo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KHAN ACADEMY</a:t>
            </a:r>
          </a:p>
          <a:p>
            <a:pPr>
              <a:spcBef>
                <a:spcPts val="400"/>
              </a:spcBef>
              <a:defRPr sz="1800" b="1">
                <a:solidFill>
                  <a:srgbClr val="1E1B4B"/>
                </a:solidFill>
              </a:defRPr>
            </a:pPr>
            <a:r>
              <a:t>Demonstração Oficial do Khanmigo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• Assistente desenhado especificamente para sala de aula.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• Exemplos de como a IA conduz o raciocínio matemático.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• Mecanismos de contenção de respostas automáticas.</a:t>
            </a:r>
          </a:p>
          <a:p>
            <a:pPr>
              <a:spcBef>
                <a:spcPts val="2000"/>
              </a:spcBef>
              <a:defRPr sz="1100" b="1">
                <a:solidFill>
                  <a:srgbClr val="6D28D9"/>
                </a:solidFill>
              </a:defRPr>
            </a:pPr>
            <a:r>
              <a:t>Link de Acesso: https://www.youtube.com/watch?v=XGkeJ9UsRQM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SÍNTESE &amp; 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Principais Aprendizados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Cauã Lira · Licenciatura em Computação · UFRPE · EAD 1ª 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1B4B"/>
                </a:solidFill>
              </a:defRPr>
            </a:pPr>
            <a:r>
              <a:t>1. Curadoria Pedagógica Intencional</a:t>
            </a:r>
          </a:p>
          <a:p>
            <a:pPr>
              <a:spcBef>
                <a:spcPts val="400"/>
              </a:spcBef>
              <a:defRPr sz="1200">
                <a:solidFill>
                  <a:srgbClr val="6B7280"/>
                </a:solidFill>
              </a:defRPr>
            </a:pPr>
            <a:r>
              <a:t>A eficácia da IA na educação não depende apenas do modelo, mas da intencionalidade didática configurada nas instruções.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728655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0672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1B4B"/>
                </a:solidFill>
              </a:defRPr>
            </a:pPr>
            <a:r>
              <a:t>2. Rigor Contra Alucinações</a:t>
            </a:r>
          </a:p>
          <a:p>
            <a:pPr>
              <a:spcBef>
                <a:spcPts val="400"/>
              </a:spcBef>
              <a:defRPr sz="1200">
                <a:solidFill>
                  <a:srgbClr val="6B7280"/>
                </a:solidFill>
              </a:defRPr>
            </a:pPr>
            <a:r>
              <a:t>Critérios claros de verificação e baterias de testes evitam que equívocos conceituais sejam repassados aos alunos.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728655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70832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1B4B"/>
                </a:solidFill>
              </a:defRPr>
            </a:pPr>
            <a:r>
              <a:t>3. Método Socrático Essencial</a:t>
            </a:r>
          </a:p>
          <a:p>
            <a:pPr>
              <a:spcBef>
                <a:spcPts val="400"/>
              </a:spcBef>
              <a:defRPr sz="1200">
                <a:solidFill>
                  <a:srgbClr val="6B7280"/>
                </a:solidFill>
              </a:defRPr>
            </a:pPr>
            <a:r>
              <a:t>O verdadeiro valor pedagógico está em estimular o pensamento crítico, não em acelerar respostas prontas.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728655" cy="6400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596128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</a:defRPr>
            </a:pPr>
            <a:r>
              <a:t>Obrigado! Aberto a perguntas e considerações da banca.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