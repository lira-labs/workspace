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4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65"/>
  </p:sldIdLst>
  <p:sldSz cy="5143500" cx="9144000"/>
  <p:notesSz cx="6858000" cy="9144000"/>
  <p:embeddedFontLst>
    <p:embeddedFont>
      <p:font typeface="Raleway Black"/>
      <p:bold r:id="rId54"/>
      <p:boldItalic r:id="rId55"/>
    </p:embeddedFont>
    <p:embeddedFont>
      <p:font typeface="Shadows Into Light"/>
      <p:regular r:id="rId56"/>
    </p:embeddedFont>
    <p:embeddedFont>
      <p:font typeface="Open Sans Light"/>
      <p:regular r:id="rId57"/>
      <p:bold r:id="rId58"/>
      <p:italic r:id="rId59"/>
      <p:boldItalic r:id="rId60"/>
    </p:embeddedFont>
    <p:embeddedFont>
      <p:font typeface="Open Sans"/>
      <p:regular r:id="rId61"/>
      <p:bold r:id="rId62"/>
      <p:italic r:id="rId63"/>
      <p:boldItalic r:id="rId64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font" Target="fonts/RalewayBlack-bold.fntdata"/><Relationship Id="rId55" Type="http://schemas.openxmlformats.org/officeDocument/2006/relationships/font" Target="fonts/RalewayBlack-boldItalic.fntdata"/><Relationship Id="rId56" Type="http://schemas.openxmlformats.org/officeDocument/2006/relationships/font" Target="fonts/ShadowsIntoLight-regular.fntdata"/><Relationship Id="rId57" Type="http://schemas.openxmlformats.org/officeDocument/2006/relationships/font" Target="fonts/OpenSansLight-regular.fntdata"/><Relationship Id="rId58" Type="http://schemas.openxmlformats.org/officeDocument/2006/relationships/font" Target="fonts/OpenSansLight-bold.fntdata"/><Relationship Id="rId59" Type="http://schemas.openxmlformats.org/officeDocument/2006/relationships/font" Target="fonts/OpenSansLight-italic.fntdata"/><Relationship Id="rId60" Type="http://schemas.openxmlformats.org/officeDocument/2006/relationships/font" Target="fonts/OpenSansLight-boldItalic.fntdata"/><Relationship Id="rId61" Type="http://schemas.openxmlformats.org/officeDocument/2006/relationships/font" Target="fonts/OpenSans-regular.fntdata"/><Relationship Id="rId62" Type="http://schemas.openxmlformats.org/officeDocument/2006/relationships/font" Target="fonts/OpenSans-bold.fntdata"/><Relationship Id="rId63" Type="http://schemas.openxmlformats.org/officeDocument/2006/relationships/font" Target="fonts/OpenSans-italic.fntdata"/><Relationship Id="rId64" Type="http://schemas.openxmlformats.org/officeDocument/2006/relationships/font" Target="fonts/OpenSans-boldItalic.fntdata"/><Relationship Id="rId65" Type="http://schemas.openxmlformats.org/officeDocument/2006/relationships/slide" Target="slides/slide4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" name="Google Shape;7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7ea0464e50_0_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3" name="Google Shape;83;g37ea0464e50_0_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37fb96587ad_1_15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37fb96587ad_1_15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g37fb96587ad_1_1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" name="Google Shape;93;g37fb96587ad_1_1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g37fb96587ad_1_9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0" name="Google Shape;100;g37fb96587ad_1_9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7ea0464e50_0_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5" name="Google Shape;105;g37ea0464e50_0_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7fb96587ad_1_9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3" name="Google Shape;113;g37fb96587ad_1_9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g37ea0464e50_0_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8" name="Google Shape;118;g37ea0464e50_0_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g37fb96587ad_1_9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6" name="Google Shape;126;g37fb96587ad_1_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7ea0464e50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1" name="Google Shape;131;g37ea0464e50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g37fb96587ad_1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7" name="Google Shape;137;g37fb96587ad_1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7fb96587ad_1_2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7fb96587ad_1_2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7fb96587ad_1_22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9" name="Google Shape;149;g37fb96587ad_1_22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7fb96587ad_1_1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7fb96587ad_1_1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7fb96587ad_1_10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7fb96587ad_1_10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g37ea0464e50_0_4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5" name="Google Shape;165;g37ea0464e50_0_4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7ea0464e50_0_6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7ea0464e50_0_6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fxp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9" name="Google Shape;179;fxp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4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g37fb96587ad_1_24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6" name="Google Shape;186;g37fb96587ad_1_24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g37fb96587ad_1_2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1" name="Google Shape;191;g37fb96587ad_1_2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7fb96587ad_1_2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9" name="Google Shape;199;g37fb96587ad_1_2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7fb96587ad_1_2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4" name="Google Shape;204;g37fb96587ad_1_2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fxp2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2" name="Google Shape;212;fxp2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g37fb96587ad_1_25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0" name="Google Shape;220;g37fb96587ad_1_25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g37fb96587ad_1_2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5" name="Google Shape;225;g37fb96587ad_1_2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fxp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3" name="Google Shape;233;fxp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7fb96587ad_1_8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37fb96587ad_1_8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g37fb96587ad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6" name="Google Shape;246;g37fb96587ad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g37fb96587ad_1_1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1" name="Google Shape;251;g37fb96587ad_1_1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g37fb96587ad_1_16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g37fb96587ad_1_16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7fb96587ad_1_13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7fb96587ad_1_13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7fb96587ad_1_17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37fb96587ad_1_17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6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g37fb96587ad_1_1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8" name="Google Shape;278;g37fb96587ad_1_1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289ea4407ca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7" name="Google Shape;287;g289ea4407ca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37af9df4d86_0_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37af9df4d86_0_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7af9df4d86_0_1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7" name="Google Shape;297;g37af9df4d86_0_1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g312812aec8e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2" name="Google Shape;302;g312812aec8e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7c31208c24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7" name="Google Shape;307;g37c31208c24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g37ea0464e50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2" name="Google Shape;312;g37ea0464e50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g37ea0464e50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7" name="Google Shape;317;g37ea0464e50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g37ea0464e50_0_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2" name="Google Shape;322;g37ea0464e50_0_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g37ea0464e50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8" name="Google Shape;328;g37ea0464e50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g3f3f46d0377_0_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3" name="Google Shape;333;g3f3f46d0377_0_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6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7ea0464e50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8" name="Google Shape;338;g37ea0464e50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7fb96587ad_1_1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3" name="Google Shape;343;g37fb96587ad_1_1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46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g37fb96587ad_1_19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48" name="Google Shape;348;g37fb96587ad_1_19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1" name="Shape 3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2" name="Google Shape;352;g37fb96587ad_1_20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3" name="Google Shape;353;g37fb96587ad_1_20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g37fb96587ad_1_20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58" name="Google Shape;358;g37fb96587ad_1_20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2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4" name="Google Shape;14;p2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600"/>
              <a:buNone/>
              <a:defRPr sz="4600"/>
            </a:lvl9pPr>
          </a:lstStyle>
          <a:p/>
        </p:txBody>
      </p:sp>
      <p:sp>
        <p:nvSpPr>
          <p:cNvPr id="18" name="Google Shape;18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spTree>
      <p:nvGrpSpPr>
        <p:cNvPr id="19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4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02020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" name="Google Shape;21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3F3F3"/>
              </a:buClr>
              <a:buSzPts val="4600"/>
              <a:buNone/>
              <a:defRPr sz="4600">
                <a:solidFill>
                  <a:srgbClr val="F3F3F3"/>
                </a:solidFill>
              </a:defRPr>
            </a:lvl9pPr>
          </a:lstStyle>
          <a:p/>
        </p:txBody>
      </p:sp>
      <p:sp>
        <p:nvSpPr>
          <p:cNvPr id="22" name="Google Shape;22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 1">
  <p:cSld name="SECTION_HEADER_1_1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D9D9D9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434343"/>
              </a:solidFill>
            </a:endParaRPr>
          </a:p>
        </p:txBody>
      </p:sp>
      <p:sp>
        <p:nvSpPr>
          <p:cNvPr id="25" name="Google Shape;25;p5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4600"/>
              <a:buNone/>
              <a:defRPr sz="4600">
                <a:solidFill>
                  <a:srgbClr val="666666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600"/>
              <a:buNone/>
              <a:defRPr sz="4600">
                <a:solidFill>
                  <a:srgbClr val="FFFFFF"/>
                </a:solidFill>
              </a:defRPr>
            </a:lvl9pPr>
          </a:lstStyle>
          <a:p/>
        </p:txBody>
      </p:sp>
      <p:sp>
        <p:nvSpPr>
          <p:cNvPr id="26" name="Google Shape;26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29" name="Google Shape;29;p6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˗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0" name="Google Shape;30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2">
  <p:cSld name="TITLE_AND_BODY_2"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3" name="Google Shape;33;p7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34" name="Google Shape;34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 1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8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37" name="Google Shape;37;p8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Font typeface="Shadows Into Light"/>
              <a:buChar char="−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﹣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-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ᐧ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●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○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Font typeface="Shadows Into Light"/>
              <a:buChar char="■"/>
              <a:defRPr>
                <a:latin typeface="Shadows Into Light"/>
                <a:ea typeface="Shadows Into Light"/>
                <a:cs typeface="Shadows Into Light"/>
                <a:sym typeface="Shadows Into Light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1" name="Google Shape;41;p9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" name="Google Shape;42;p9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>
              <a:spcBef>
                <a:spcPts val="0"/>
              </a:spcBef>
              <a:spcAft>
                <a:spcPts val="0"/>
              </a:spcAft>
              <a:buSzPts val="1400"/>
              <a:buChar char="−"/>
              <a:defRPr sz="14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3" name="Google Shape;43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46" name="Google Shape;46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11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49" name="Google Shape;49;p11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 rtl="0">
              <a:spcBef>
                <a:spcPts val="0"/>
              </a:spcBef>
              <a:spcAft>
                <a:spcPts val="0"/>
              </a:spcAft>
              <a:buSzPts val="1200"/>
              <a:buChar char="−"/>
              <a:defRPr sz="1200"/>
            </a:lvl1pPr>
            <a:lvl2pPr indent="-304800" lvl="1" marL="914400" rtl="0">
              <a:spcBef>
                <a:spcPts val="0"/>
              </a:spcBef>
              <a:spcAft>
                <a:spcPts val="0"/>
              </a:spcAft>
              <a:buSzPts val="1200"/>
              <a:buChar char="﹣"/>
              <a:defRPr sz="1200"/>
            </a:lvl2pPr>
            <a:lvl3pPr indent="-304800" lvl="2" marL="1371600" rtl="0">
              <a:spcBef>
                <a:spcPts val="0"/>
              </a:spcBef>
              <a:spcAft>
                <a:spcPts val="0"/>
              </a:spcAft>
              <a:buSzPts val="1200"/>
              <a:buChar char="-"/>
              <a:defRPr sz="1200"/>
            </a:lvl3pPr>
            <a:lvl4pPr indent="-304800" lvl="3" marL="1828800" rtl="0">
              <a:spcBef>
                <a:spcPts val="0"/>
              </a:spcBef>
              <a:spcAft>
                <a:spcPts val="0"/>
              </a:spcAft>
              <a:buSzPts val="1200"/>
              <a:buChar char="ᐧ"/>
              <a:defRPr sz="1200"/>
            </a:lvl4pPr>
            <a:lvl5pPr indent="-304800" lvl="4" marL="22860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0" name="Google Shape;50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5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Google Shape;52;p12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53" name="Google Shape;53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3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6" name="Google Shape;56;p13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57" name="Google Shape;57;p13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58" name="Google Shape;58;p13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74650" lvl="0" marL="457200" rtl="0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59" name="Google Shape;59;p1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0" name="Shape 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/>
            </a:lvl1pPr>
          </a:lstStyle>
          <a:p/>
        </p:txBody>
      </p:sp>
      <p:sp>
        <p:nvSpPr>
          <p:cNvPr id="62" name="Google Shape;62;p1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5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 algn="ctr">
              <a:spcBef>
                <a:spcPts val="0"/>
              </a:spcBef>
              <a:spcAft>
                <a:spcPts val="0"/>
              </a:spcAft>
              <a:buSzPts val="2300"/>
              <a:buChar char="−"/>
              <a:defRPr/>
            </a:lvl1pPr>
            <a:lvl2pPr indent="-349250" lvl="1" marL="914400" rtl="0" algn="ctr">
              <a:spcBef>
                <a:spcPts val="0"/>
              </a:spcBef>
              <a:spcAft>
                <a:spcPts val="0"/>
              </a:spcAft>
              <a:buSzPts val="1900"/>
              <a:buChar char="﹣"/>
              <a:defRPr/>
            </a:lvl2pPr>
            <a:lvl3pPr indent="-349250" lvl="2" marL="1371600" rtl="0" algn="ctr">
              <a:spcBef>
                <a:spcPts val="0"/>
              </a:spcBef>
              <a:spcAft>
                <a:spcPts val="0"/>
              </a:spcAft>
              <a:buSzPts val="1900"/>
              <a:buChar char="-"/>
              <a:defRPr/>
            </a:lvl3pPr>
            <a:lvl4pPr indent="-349250" lvl="3" marL="1828800" rtl="0" algn="ctr">
              <a:spcBef>
                <a:spcPts val="0"/>
              </a:spcBef>
              <a:spcAft>
                <a:spcPts val="0"/>
              </a:spcAft>
              <a:buSzPts val="1900"/>
              <a:buChar char="ᐧ"/>
              <a:defRPr/>
            </a:lvl4pPr>
            <a:lvl5pPr indent="-349250" lvl="4" marL="22860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rtl="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rtl="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rtl="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7"/>
          <p:cNvSpPr txBox="1"/>
          <p:nvPr>
            <p:ph type="title"/>
          </p:nvPr>
        </p:nvSpPr>
        <p:spPr>
          <a:xfrm>
            <a:off x="1067279" y="273844"/>
            <a:ext cx="74481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600"/>
              <a:buNone/>
              <a:defRPr/>
            </a:lvl9pPr>
          </a:lstStyle>
          <a:p/>
        </p:txBody>
      </p:sp>
      <p:sp>
        <p:nvSpPr>
          <p:cNvPr id="71" name="Google Shape;71;p17"/>
          <p:cNvSpPr txBox="1"/>
          <p:nvPr>
            <p:ph idx="1" type="body"/>
          </p:nvPr>
        </p:nvSpPr>
        <p:spPr>
          <a:xfrm>
            <a:off x="1067279" y="1369219"/>
            <a:ext cx="74481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17500" lvl="0" marL="45720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−"/>
              <a:defRPr/>
            </a:lvl1pPr>
            <a:lvl2pPr indent="-317500" lvl="1" marL="914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﹣"/>
              <a:defRPr/>
            </a:lvl2pPr>
            <a:lvl3pPr indent="-317500" lvl="2" marL="1371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-"/>
              <a:defRPr/>
            </a:lvl3pPr>
            <a:lvl4pPr indent="-317500" lvl="3" marL="18288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ᐧ"/>
              <a:defRPr/>
            </a:lvl4pPr>
            <a:lvl5pPr indent="-317500" lvl="4" marL="22860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5pPr>
            <a:lvl6pPr indent="-317500" lvl="5" marL="27432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1200"/>
              </a:spcBef>
              <a:spcAft>
                <a:spcPts val="12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72" name="Google Shape;72;p17"/>
          <p:cNvSpPr txBox="1"/>
          <p:nvPr>
            <p:ph idx="10" type="dt"/>
          </p:nvPr>
        </p:nvSpPr>
        <p:spPr>
          <a:xfrm>
            <a:off x="1067279" y="4767263"/>
            <a:ext cx="16188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3" name="Google Shape;73;p17"/>
          <p:cNvSpPr txBox="1"/>
          <p:nvPr>
            <p:ph idx="11" type="ftr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rtl="0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74" name="Google Shape;74;p17"/>
          <p:cNvSpPr txBox="1"/>
          <p:nvPr>
            <p:ph idx="12" type="sldNum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rtl="0" algn="r">
              <a:spcBef>
                <a:spcPts val="0"/>
              </a:spcBef>
              <a:buNone/>
              <a:defRPr/>
            </a:lvl1pPr>
            <a:lvl2pPr indent="0" lvl="1" marL="0" rtl="0" algn="r">
              <a:spcBef>
                <a:spcPts val="0"/>
              </a:spcBef>
              <a:buNone/>
              <a:defRPr/>
            </a:lvl2pPr>
            <a:lvl3pPr indent="0" lvl="2" marL="0" rtl="0" algn="r">
              <a:spcBef>
                <a:spcPts val="0"/>
              </a:spcBef>
              <a:buNone/>
              <a:defRPr/>
            </a:lvl3pPr>
            <a:lvl4pPr indent="0" lvl="3" marL="0" rtl="0" algn="r">
              <a:spcBef>
                <a:spcPts val="0"/>
              </a:spcBef>
              <a:buNone/>
              <a:defRPr/>
            </a:lvl4pPr>
            <a:lvl5pPr indent="0" lvl="4" marL="0" rtl="0" algn="r">
              <a:spcBef>
                <a:spcPts val="0"/>
              </a:spcBef>
              <a:buNone/>
              <a:defRPr/>
            </a:lvl5pPr>
            <a:lvl6pPr indent="0" lvl="5" marL="0" rtl="0" algn="r">
              <a:spcBef>
                <a:spcPts val="0"/>
              </a:spcBef>
              <a:buNone/>
              <a:defRPr/>
            </a:lvl6pPr>
            <a:lvl7pPr indent="0" lvl="6" marL="0" rtl="0" algn="r">
              <a:spcBef>
                <a:spcPts val="0"/>
              </a:spcBef>
              <a:buNone/>
              <a:defRPr/>
            </a:lvl7pPr>
            <a:lvl8pPr indent="0" lvl="7" marL="0" rtl="0" algn="r">
              <a:spcBef>
                <a:spcPts val="0"/>
              </a:spcBef>
              <a:buNone/>
              <a:defRPr/>
            </a:lvl8pPr>
            <a:lvl9pPr indent="0" lvl="8" marL="0" rt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/>
          <p:nvPr/>
        </p:nvSpPr>
        <p:spPr>
          <a:xfrm>
            <a:off x="0" y="575"/>
            <a:ext cx="394500" cy="5143500"/>
          </a:xfrm>
          <a:prstGeom prst="rtTriangle">
            <a:avLst/>
          </a:prstGeom>
          <a:solidFill>
            <a:srgbClr val="F3F3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7" name="Google Shape;7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7824451" y="4570800"/>
            <a:ext cx="1319550" cy="572700"/>
          </a:xfrm>
          <a:prstGeom prst="rect">
            <a:avLst/>
          </a:prstGeom>
          <a:noFill/>
          <a:ln>
            <a:noFill/>
          </a:ln>
        </p:spPr>
      </p:pic>
      <p:sp>
        <p:nvSpPr>
          <p:cNvPr id="8" name="Google Shape;8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Open Sans Light"/>
              <a:buNone/>
              <a:defRPr sz="36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74650" lvl="0" marL="457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2300"/>
              <a:buFont typeface="Open Sans"/>
              <a:buChar char="−"/>
              <a:defRPr sz="23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indent="-349250" lvl="1" marL="914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﹣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indent="-349250" lvl="2" marL="1371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-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indent="-349250" lvl="3" marL="1828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ᐧ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indent="-349250" lvl="4" marL="22860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indent="-349250" lvl="5" marL="27432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indent="-349250" lvl="6" marL="32004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●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indent="-349250" lvl="7" marL="36576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○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indent="-349250" lvl="8" marL="41148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202020"/>
              </a:buClr>
              <a:buSzPts val="1900"/>
              <a:buFont typeface="Open Sans"/>
              <a:buChar char="■"/>
              <a:defRPr sz="1900">
                <a:solidFill>
                  <a:srgbClr val="202020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r">
              <a:buNone/>
              <a:defRPr sz="1000">
                <a:solidFill>
                  <a:schemeClr val="dk2"/>
                </a:solidFill>
              </a:defRPr>
            </a:lvl1pPr>
            <a:lvl2pPr lvl="1" rtl="0" algn="r">
              <a:buNone/>
              <a:defRPr sz="1000">
                <a:solidFill>
                  <a:schemeClr val="dk2"/>
                </a:solidFill>
              </a:defRPr>
            </a:lvl2pPr>
            <a:lvl3pPr lvl="2" rtl="0" algn="r">
              <a:buNone/>
              <a:defRPr sz="1000">
                <a:solidFill>
                  <a:schemeClr val="dk2"/>
                </a:solidFill>
              </a:defRPr>
            </a:lvl3pPr>
            <a:lvl4pPr lvl="3" rtl="0" algn="r">
              <a:buNone/>
              <a:defRPr sz="1000">
                <a:solidFill>
                  <a:schemeClr val="dk2"/>
                </a:solidFill>
              </a:defRPr>
            </a:lvl4pPr>
            <a:lvl5pPr lvl="4" rtl="0" algn="r">
              <a:buNone/>
              <a:defRPr sz="1000">
                <a:solidFill>
                  <a:schemeClr val="dk2"/>
                </a:solidFill>
              </a:defRPr>
            </a:lvl5pPr>
            <a:lvl6pPr lvl="5" rtl="0" algn="r">
              <a:buNone/>
              <a:defRPr sz="1000">
                <a:solidFill>
                  <a:schemeClr val="dk2"/>
                </a:solidFill>
              </a:defRPr>
            </a:lvl6pPr>
            <a:lvl7pPr lvl="6" rtl="0" algn="r">
              <a:buNone/>
              <a:defRPr sz="1000">
                <a:solidFill>
                  <a:schemeClr val="dk2"/>
                </a:solidFill>
              </a:defRPr>
            </a:lvl7pPr>
            <a:lvl8pPr lvl="7" rtl="0" algn="r">
              <a:buNone/>
              <a:defRPr sz="1000">
                <a:solidFill>
                  <a:schemeClr val="dk2"/>
                </a:solidFill>
              </a:defRPr>
            </a:lvl8pPr>
            <a:lvl9pPr lvl="8" rtl="0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" name="Google Shape;11;p1"/>
          <p:cNvSpPr txBox="1"/>
          <p:nvPr/>
        </p:nvSpPr>
        <p:spPr>
          <a:xfrm>
            <a:off x="5730949" y="4663225"/>
            <a:ext cx="2200500" cy="480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 fontScale="85000" lnSpcReduction="20000"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LUCAS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SILVA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900">
                <a:solidFill>
                  <a:srgbClr val="434343"/>
                </a:solidFill>
                <a:latin typeface="Raleway Black"/>
                <a:ea typeface="Raleway Black"/>
                <a:cs typeface="Raleway Black"/>
                <a:sym typeface="Raleway Black"/>
              </a:rPr>
              <a:t>FIGUEIREDO</a:t>
            </a:r>
            <a:endParaRPr sz="900">
              <a:solidFill>
                <a:srgbClr val="434343"/>
              </a:solidFill>
              <a:latin typeface="Raleway Black"/>
              <a:ea typeface="Raleway Black"/>
              <a:cs typeface="Raleway Black"/>
              <a:sym typeface="Raleway Black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  <p:sldLayoutId id="2147483662" r:id="rId16"/>
    <p:sldLayoutId id="2147483663" r:id="rId1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www.tensorflow.org/api_docs/python/tf/keras/initializers/GlorotUnifor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hyperlink" Target="https://vivek-murali.medium.com/is-data-normalization-always-necessary-before-training-machine-learning-models-15b10b17e436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Relationship Id="rId4" Type="http://schemas.openxmlformats.org/officeDocument/2006/relationships/hyperlink" Target="https://www.datageeks.com.br/outliers/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2.xml"/><Relationship Id="rId3" Type="http://schemas.openxmlformats.org/officeDocument/2006/relationships/hyperlink" Target="https://nebius.com/blog/posts/epochs-vs-iterations-in-machine-learning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Relationship Id="rId4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Relationship Id="rId3" Type="http://schemas.openxmlformats.org/officeDocument/2006/relationships/hyperlink" Target="https://www.i2tutorials.com/what-is-the-difference-between-training-dataset-testing-dataset-validation-dataset-what-is-the-common-ratio/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Relationship Id="rId4" Type="http://schemas.openxmlformats.org/officeDocument/2006/relationships/hyperlink" Target="https://www.deeplearning.ai/ai-notes/regularization/index.html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gif"/><Relationship Id="rId4" Type="http://schemas.openxmlformats.org/officeDocument/2006/relationships/hyperlink" Target="https://colab.research.google.com/github/storopoli/ciencia-de-dados/blob/main/notebooks/Aula_18_b_Redes_Neurais_com_PyTorch.ipynb#scrollTo=_a39eBHj54r3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machinelearningmastery.com/a-gentle-introduction-to-batch-normalization/" TargetMode="External"/><Relationship Id="rId4" Type="http://schemas.openxmlformats.org/officeDocument/2006/relationships/image" Target="../media/image4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3.png"/><Relationship Id="rId4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0.xml"/><Relationship Id="rId3" Type="http://schemas.openxmlformats.org/officeDocument/2006/relationships/hyperlink" Target="http://www.youtube.com/watch?v=8z3DFk4VxRo" TargetMode="External"/><Relationship Id="rId4" Type="http://schemas.openxmlformats.org/officeDocument/2006/relationships/image" Target="../media/image5.jp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1.xml"/><Relationship Id="rId3" Type="http://schemas.openxmlformats.org/officeDocument/2006/relationships/hyperlink" Target="https://www.geeksforgeeks.org/deep-learning/vanishing-and-exploding-gradients-problems-in-deep-learning/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://www.youtube.com/watch?v=Dta_zntkiuo" TargetMode="External"/><Relationship Id="rId4" Type="http://schemas.openxmlformats.org/officeDocument/2006/relationships/image" Target="../media/image2.jp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3.xml"/><Relationship Id="rId3" Type="http://schemas.openxmlformats.org/officeDocument/2006/relationships/image" Target="../media/image3.png"/><Relationship Id="rId4" Type="http://schemas.openxmlformats.org/officeDocument/2006/relationships/hyperlink" Target="https://www.mdpi.com/2078-2489/15/12/755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8.xml"/><Relationship Id="rId3" Type="http://schemas.openxmlformats.org/officeDocument/2006/relationships/hyperlink" Target="https://www.kaggle.com/datasets/johnsmith88/heart-disease-dataset?resource=download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39.xml"/><Relationship Id="rId3" Type="http://schemas.openxmlformats.org/officeDocument/2006/relationships/hyperlink" Target="https://archive.ics.uci.edu/dataset/296/diabetes+130-us+hospitals+for+years+1999-2008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7.png"/><Relationship Id="rId4" Type="http://schemas.openxmlformats.org/officeDocument/2006/relationships/hyperlink" Target="https://github.com/lsfcin/mlp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10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8"/>
          <p:cNvSpPr txBox="1"/>
          <p:nvPr>
            <p:ph type="ctrTitle"/>
          </p:nvPr>
        </p:nvSpPr>
        <p:spPr>
          <a:xfrm>
            <a:off x="572258" y="1130675"/>
            <a:ext cx="82599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Tópicos em IA - Turma 2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AI4Good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80" name="Google Shape;80;p18"/>
          <p:cNvSpPr txBox="1"/>
          <p:nvPr>
            <p:ph idx="1" type="subTitle"/>
          </p:nvPr>
        </p:nvSpPr>
        <p:spPr>
          <a:xfrm>
            <a:off x="572250" y="3220225"/>
            <a:ext cx="82599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 - MLP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noções complementares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 </a:t>
            </a:r>
            <a:r>
              <a:rPr i="1" lang="en"/>
              <a:t>deep learning</a:t>
            </a:r>
            <a:endParaRPr i="1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2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inicialização dos pesos da rede</a:t>
            </a:r>
            <a:endParaRPr/>
          </a:p>
        </p:txBody>
      </p:sp>
      <p:sp>
        <p:nvSpPr>
          <p:cNvPr id="96" name="Google Shape;96;p2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priori os pesos da rede são </a:t>
            </a:r>
            <a:r>
              <a:rPr lang="en" sz="1928" u="sng"/>
              <a:t>inicializados aleatoriamente</a:t>
            </a:r>
            <a:endParaRPr sz="1928" u="sng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alternativamente a </a:t>
            </a:r>
            <a:r>
              <a:rPr lang="en" sz="1928" u="sng"/>
              <a:t>inicialização Xavier ou Glorot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é uma técnica de inicialização de pesos para aprimorar o treinamento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1018"/>
              <a:buNone/>
            </a:pPr>
            <a:r>
              <a:rPr lang="en" sz="1928"/>
              <a:t>a proposta é manter um </a:t>
            </a:r>
            <a:br>
              <a:rPr lang="en" sz="1928"/>
            </a:br>
            <a:r>
              <a:rPr lang="en" sz="1928" u="sng"/>
              <a:t>equilíbrio na variância das ativações</a:t>
            </a:r>
            <a:r>
              <a:rPr lang="en" sz="1928"/>
              <a:t> </a:t>
            </a:r>
            <a:br>
              <a:rPr lang="en" sz="1928"/>
            </a:br>
            <a:r>
              <a:rPr lang="en" sz="1928"/>
              <a:t>entre as camadas</a:t>
            </a:r>
            <a:endParaRPr sz="1928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SzPts val="1018"/>
              <a:buNone/>
            </a:pPr>
            <a:r>
              <a:rPr lang="en" sz="1928"/>
              <a:t>é particularmente eficaz na </a:t>
            </a:r>
            <a:br>
              <a:rPr lang="en" sz="1928"/>
            </a:br>
            <a:r>
              <a:rPr lang="en" sz="1928" u="sng"/>
              <a:t>prevenção de gradientes que desaparecem ou explodem</a:t>
            </a:r>
            <a:r>
              <a:rPr lang="en" sz="1928"/>
              <a:t>, </a:t>
            </a:r>
            <a:br>
              <a:rPr lang="en" sz="1928"/>
            </a:br>
            <a:r>
              <a:rPr lang="en" sz="1928"/>
              <a:t>problemas comuns em redes profundas.</a:t>
            </a:r>
            <a:endParaRPr sz="1928"/>
          </a:p>
        </p:txBody>
      </p:sp>
      <p:sp>
        <p:nvSpPr>
          <p:cNvPr id="97" name="Google Shape;97;p21"/>
          <p:cNvSpPr txBox="1"/>
          <p:nvPr/>
        </p:nvSpPr>
        <p:spPr>
          <a:xfrm>
            <a:off x="311700" y="4568875"/>
            <a:ext cx="50259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tf.keras.initializers.GlorotUniform  |  TensorFlow v2.16.1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2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pré-processamento dos dados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normalização e padronização</a:t>
            </a:r>
            <a:endParaRPr/>
          </a:p>
        </p:txBody>
      </p:sp>
      <p:sp>
        <p:nvSpPr>
          <p:cNvPr id="108" name="Google Shape;108;p2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pré-processamento dos dados pode ajudar</a:t>
            </a:r>
            <a:endParaRPr/>
          </a:p>
        </p:txBody>
      </p:sp>
      <p:pic>
        <p:nvPicPr>
          <p:cNvPr id="109" name="Google Shape;109;p2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4475" y="1651000"/>
            <a:ext cx="6278101" cy="2730900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3"/>
          <p:cNvSpPr txBox="1"/>
          <p:nvPr/>
        </p:nvSpPr>
        <p:spPr>
          <a:xfrm>
            <a:off x="434475" y="4228900"/>
            <a:ext cx="6278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Is Data Normalization Always Necessary Before Training Machine Learning Models? A Deep Dive into Use Cases | by Vivek Murali | Medium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outliers</a:t>
            </a:r>
            <a:endParaRPr i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</a:t>
            </a:r>
            <a:endParaRPr/>
          </a:p>
        </p:txBody>
      </p:sp>
      <p:sp>
        <p:nvSpPr>
          <p:cNvPr id="121" name="Google Shape;121;p25"/>
          <p:cNvSpPr txBox="1"/>
          <p:nvPr>
            <p:ph idx="1" type="body"/>
          </p:nvPr>
        </p:nvSpPr>
        <p:spPr>
          <a:xfrm>
            <a:off x="311700" y="1152475"/>
            <a:ext cx="4311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outliers podem prejudicar bastante os dados se forem aplicadas normalizações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escolha bem ou experimente diferentes formas de pré-processamento para não sofrer com esse problema</a:t>
            </a:r>
            <a:endParaRPr/>
          </a:p>
        </p:txBody>
      </p:sp>
      <p:pic>
        <p:nvPicPr>
          <p:cNvPr id="122" name="Google Shape;122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69747" y="1293825"/>
            <a:ext cx="3845826" cy="2817600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5"/>
          <p:cNvSpPr txBox="1"/>
          <p:nvPr/>
        </p:nvSpPr>
        <p:spPr>
          <a:xfrm>
            <a:off x="311700" y="4329600"/>
            <a:ext cx="4882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Outliers: O que são Pontos Fora da Curva e Como Tratá-los?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fitting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redes pouco ou muito ‘poderosas’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2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fitting</a:t>
            </a:r>
            <a:endParaRPr/>
          </a:p>
        </p:txBody>
      </p:sp>
      <p:pic>
        <p:nvPicPr>
          <p:cNvPr id="134" name="Google Shape;134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7668303" cy="30070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épocas (</a:t>
            </a:r>
            <a:r>
              <a:rPr i="1" lang="en"/>
              <a:t>epoch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lotes (</a:t>
            </a:r>
            <a:r>
              <a:rPr i="1" lang="en"/>
              <a:t>batch</a:t>
            </a:r>
            <a:r>
              <a:rPr lang="en"/>
              <a:t>)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iterações (</a:t>
            </a:r>
            <a:r>
              <a:rPr i="1" lang="en"/>
              <a:t>iteration</a:t>
            </a:r>
            <a:r>
              <a:rPr lang="en"/>
              <a:t>)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9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/>
              <a:t>l</a:t>
            </a:r>
            <a:r>
              <a:rPr lang="en" sz="2000"/>
              <a:t>ote (</a:t>
            </a:r>
            <a:r>
              <a:rPr b="1" lang="en" sz="2000"/>
              <a:t>batch</a:t>
            </a:r>
            <a:r>
              <a:rPr lang="en" sz="2000"/>
              <a:t>): um </a:t>
            </a:r>
            <a:r>
              <a:rPr lang="en" sz="2000" u="sng"/>
              <a:t>subconjunto dos dados</a:t>
            </a:r>
            <a:r>
              <a:rPr lang="en" sz="2000"/>
              <a:t> de treinamento processados ​​juntos antes do otimizador atualizar os pesos.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000"/>
              <a:t>iteração (</a:t>
            </a:r>
            <a:r>
              <a:rPr b="1" lang="en" sz="2000"/>
              <a:t>iteration</a:t>
            </a:r>
            <a:r>
              <a:rPr lang="en" sz="2000"/>
              <a:t>): </a:t>
            </a:r>
            <a:r>
              <a:rPr lang="en" sz="2000" u="sng"/>
              <a:t>uma etapa de atualização</a:t>
            </a:r>
            <a:r>
              <a:rPr lang="en" sz="2000"/>
              <a:t> de parâmetro; ou seja, cada vez que a rede conclui uma passagem para frente e para trás em um lote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000"/>
              <a:t>época (</a:t>
            </a:r>
            <a:r>
              <a:rPr b="1" lang="en" sz="2000"/>
              <a:t>epoch</a:t>
            </a:r>
            <a:r>
              <a:rPr lang="en" sz="2000"/>
              <a:t>): uma </a:t>
            </a:r>
            <a:r>
              <a:rPr lang="en" sz="2000" u="sng"/>
              <a:t>passagem completa por cada amostra</a:t>
            </a:r>
            <a:r>
              <a:rPr lang="en" sz="2000"/>
              <a:t> de treinamento, geralmente composta de muitas iterações</a:t>
            </a:r>
            <a:endParaRPr sz="2000"/>
          </a:p>
        </p:txBody>
      </p:sp>
      <p:sp>
        <p:nvSpPr>
          <p:cNvPr id="145" name="Google Shape;145;p2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epoch, batch, iteration</a:t>
            </a:r>
            <a:endParaRPr/>
          </a:p>
        </p:txBody>
      </p:sp>
      <p:sp>
        <p:nvSpPr>
          <p:cNvPr id="146" name="Google Shape;146;p29"/>
          <p:cNvSpPr txBox="1"/>
          <p:nvPr/>
        </p:nvSpPr>
        <p:spPr>
          <a:xfrm>
            <a:off x="311700" y="4703625"/>
            <a:ext cx="49338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Epochs vs iterations in machine learning: what’s the difference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30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3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hiperparâmetros</a:t>
            </a:r>
            <a:endParaRPr/>
          </a:p>
        </p:txBody>
      </p:sp>
      <p:sp>
        <p:nvSpPr>
          <p:cNvPr id="157" name="Google Shape;157;p3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-361950" lvl="0" marL="457200" rtl="0" algn="l">
              <a:spcBef>
                <a:spcPts val="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taxa de aprendizagem (</a:t>
            </a:r>
            <a:r>
              <a:rPr b="1" i="1" lang="en" sz="2100"/>
              <a:t>learning rate</a:t>
            </a:r>
            <a:r>
              <a:rPr b="1" lang="en" sz="2100"/>
              <a:t>)</a:t>
            </a:r>
            <a:r>
              <a:rPr lang="en" sz="2100"/>
              <a:t>: 0.03, 0.01, 0.003, 0.001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arquitetura</a:t>
            </a:r>
            <a:r>
              <a:rPr lang="en" sz="2100"/>
              <a:t>: camadas escondidas e neurônios em cada uma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função de ativação</a:t>
            </a:r>
            <a:r>
              <a:rPr lang="en" sz="2100"/>
              <a:t>: ReLU, tanh, etc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Char char="−"/>
            </a:pPr>
            <a:r>
              <a:rPr b="1" lang="en" sz="2100"/>
              <a:t>número de épocas</a:t>
            </a:r>
            <a:r>
              <a:rPr lang="en" sz="2100"/>
              <a:t>: 10, 20, 50, 100</a:t>
            </a:r>
            <a:endParaRPr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normalização, padronização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0"/>
              </a:spcAft>
              <a:buSzPts val="2100"/>
              <a:buFont typeface="Arial"/>
              <a:buChar char="−"/>
            </a:pPr>
            <a:r>
              <a:rPr b="1" lang="en" sz="2100"/>
              <a:t>dropout</a:t>
            </a:r>
            <a:endParaRPr b="1" sz="2100"/>
          </a:p>
          <a:p>
            <a:pPr indent="-361950" lvl="0" marL="457200" rtl="0" algn="l">
              <a:spcBef>
                <a:spcPts val="1000"/>
              </a:spcBef>
              <a:spcAft>
                <a:spcPts val="1000"/>
              </a:spcAft>
              <a:buSzPts val="2100"/>
              <a:buFont typeface="Arial"/>
              <a:buChar char="−"/>
            </a:pPr>
            <a:r>
              <a:rPr b="1" lang="en" sz="2100"/>
              <a:t>regularização </a:t>
            </a:r>
            <a:endParaRPr b="1" sz="2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divisão dos dados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treinamento, validação e teste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3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pic>
        <p:nvPicPr>
          <p:cNvPr id="168" name="Google Shape;168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170125"/>
            <a:ext cx="8839199" cy="3163133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33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conjuntos de treino, validação e teste</a:t>
            </a:r>
            <a:endParaRPr/>
          </a:p>
        </p:txBody>
      </p:sp>
      <p:sp>
        <p:nvSpPr>
          <p:cNvPr id="175" name="Google Shape;175;p34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76" name="Google Shape;176;p3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SKIPPED — </a:t>
            </a:r>
            <a:r>
              <a:rPr lang="en" sz="1700"/>
              <a:t>desenvolvedores geralmente separar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3240"/>
              <a:t>conjuntos de treino, validação e teste</a:t>
            </a:r>
            <a:endParaRPr sz="3240"/>
          </a:p>
        </p:txBody>
      </p:sp>
      <p:sp>
        <p:nvSpPr>
          <p:cNvPr id="182" name="Google Shape;182;p35"/>
          <p:cNvSpPr txBox="1"/>
          <p:nvPr/>
        </p:nvSpPr>
        <p:spPr>
          <a:xfrm>
            <a:off x="311700" y="4501050"/>
            <a:ext cx="68370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What is the difference between Training dataset, Testing Dataset, Validation dataset? What is the Common Ratio? | i2tutorials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83" name="Google Shape;183;p35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desenvolvedores geralmente separam os dados dos datasets em porções para não enviesar o modelo, justamente evitar overfitting, deixá-lo mais generalizável</a:t>
            </a:r>
            <a:endParaRPr sz="17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treino</a:t>
            </a:r>
            <a:r>
              <a:rPr lang="en"/>
              <a:t>: usado para de fato treinar o modelo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/>
              <a:t>validação</a:t>
            </a:r>
            <a:r>
              <a:rPr lang="en"/>
              <a:t>: usado para refinar os hiperparâmetros, taxa de aprendizagem, número de épocas, etc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/>
              <a:t>teste</a:t>
            </a:r>
            <a:r>
              <a:rPr lang="en"/>
              <a:t>: usado de fato para reportar a acurácia do modelo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br>
              <a:rPr lang="en"/>
            </a:br>
            <a:r>
              <a:rPr i="1" lang="en"/>
              <a:t>early stopping</a:t>
            </a:r>
            <a:endParaRPr i="1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37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early stopping</a:t>
            </a:r>
            <a:endParaRPr i="1"/>
          </a:p>
        </p:txBody>
      </p:sp>
      <p:sp>
        <p:nvSpPr>
          <p:cNvPr id="194" name="Google Shape;194;p37"/>
          <p:cNvSpPr txBox="1"/>
          <p:nvPr>
            <p:ph idx="1" type="body"/>
          </p:nvPr>
        </p:nvSpPr>
        <p:spPr>
          <a:xfrm>
            <a:off x="311700" y="1152475"/>
            <a:ext cx="28470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para evitar o overfitting o treinamento é parado quando o erro no </a:t>
            </a:r>
            <a:r>
              <a:rPr lang="en" u="sng"/>
              <a:t>conjunto de validação</a:t>
            </a:r>
            <a:r>
              <a:rPr lang="en"/>
              <a:t> começa a aumentar</a:t>
            </a:r>
            <a:endParaRPr/>
          </a:p>
        </p:txBody>
      </p:sp>
      <p:pic>
        <p:nvPicPr>
          <p:cNvPr id="195" name="Google Shape;195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8648" y="498000"/>
            <a:ext cx="5673642" cy="3991025"/>
          </a:xfrm>
          <a:prstGeom prst="rect">
            <a:avLst/>
          </a:prstGeom>
          <a:noFill/>
          <a:ln>
            <a:noFill/>
          </a:ln>
        </p:spPr>
      </p:pic>
      <p:sp>
        <p:nvSpPr>
          <p:cNvPr id="196" name="Google Shape;196;p37"/>
          <p:cNvSpPr txBox="1"/>
          <p:nvPr/>
        </p:nvSpPr>
        <p:spPr>
          <a:xfrm>
            <a:off x="311700" y="4568875"/>
            <a:ext cx="4858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Regularizing neural networks - deeplearning.ai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38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Google Shape;206;p39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dropout</a:t>
            </a:r>
            <a:endParaRPr i="1"/>
          </a:p>
        </p:txBody>
      </p:sp>
      <p:sp>
        <p:nvSpPr>
          <p:cNvPr id="207" name="Google Shape;207;p39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SKIPPED — </a:t>
            </a:r>
            <a:r>
              <a:rPr lang="en" sz="1438"/>
              <a:t>u</a:t>
            </a:r>
            <a:r>
              <a:rPr lang="en" sz="1438"/>
              <a:t>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ideal fica em torno de 20%</a:t>
            </a:r>
            <a:endParaRPr sz="1438"/>
          </a:p>
        </p:txBody>
      </p:sp>
      <p:pic>
        <p:nvPicPr>
          <p:cNvPr id="208" name="Google Shape;208;p3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9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40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dropout</a:t>
            </a:r>
            <a:endParaRPr i="1" sz="3240"/>
          </a:p>
        </p:txBody>
      </p:sp>
      <p:sp>
        <p:nvSpPr>
          <p:cNvPr id="215" name="Google Shape;215;p40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688"/>
              <a:buNone/>
            </a:pPr>
            <a:r>
              <a:rPr lang="en" sz="1438"/>
              <a:t>uma </a:t>
            </a:r>
            <a:r>
              <a:rPr b="1" lang="en" sz="1438"/>
              <a:t>medida de regularização</a:t>
            </a:r>
            <a:r>
              <a:rPr lang="en" sz="1438"/>
              <a:t> na qual </a:t>
            </a:r>
            <a:r>
              <a:rPr lang="en" sz="1438" u="sng"/>
              <a:t>evita-se overfitting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0"/>
              </a:spcAft>
              <a:buSzPts val="688"/>
              <a:buNone/>
            </a:pPr>
            <a:r>
              <a:rPr i="1" lang="en" sz="1438"/>
              <a:t>dropout </a:t>
            </a:r>
            <a:r>
              <a:rPr lang="en" sz="1438"/>
              <a:t>é um algoritmo que especifica que a cada iteração de época do treino os </a:t>
            </a:r>
            <a:r>
              <a:rPr lang="en" sz="1438" u="sng"/>
              <a:t>neurônios possuem uma probabilidade de serem removidos</a:t>
            </a:r>
            <a:r>
              <a:rPr lang="en" sz="1438"/>
              <a:t> (não utilizados) para a aprendizagem</a:t>
            </a:r>
            <a:endParaRPr sz="1438"/>
          </a:p>
          <a:p>
            <a:pPr indent="0" lvl="0" marL="0" rtl="0" algn="l">
              <a:lnSpc>
                <a:spcPct val="105000"/>
              </a:lnSpc>
              <a:spcBef>
                <a:spcPts val="1200"/>
              </a:spcBef>
              <a:spcAft>
                <a:spcPts val="1200"/>
              </a:spcAft>
              <a:buSzPts val="688"/>
              <a:buNone/>
            </a:pPr>
            <a:r>
              <a:rPr lang="en" sz="1438"/>
              <a:t>geralmente a probabilidade utilizada fica entre 20% e 50%, dependendo da rede e da camada</a:t>
            </a:r>
            <a:endParaRPr sz="1438"/>
          </a:p>
        </p:txBody>
      </p:sp>
      <p:pic>
        <p:nvPicPr>
          <p:cNvPr id="216" name="Google Shape;216;p4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03000" y="1152475"/>
            <a:ext cx="5829300" cy="3314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7" name="Google Shape;217;p40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Aula_18_b_Redes_Neurais_com_PyTorch.ipynb - Colab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4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regularização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4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batch normalization</a:t>
            </a:r>
            <a:endParaRPr i="1"/>
          </a:p>
        </p:txBody>
      </p:sp>
      <p:sp>
        <p:nvSpPr>
          <p:cNvPr id="228" name="Google Shape;228;p42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SKIPPED — </a:t>
            </a:r>
            <a:r>
              <a:rPr lang="en"/>
              <a:t>outra </a:t>
            </a:r>
            <a:r>
              <a:rPr b="1" lang="en"/>
              <a:t>medida de regularização</a:t>
            </a:r>
            <a:r>
              <a:rPr lang="en"/>
              <a:t> na qual </a:t>
            </a:r>
            <a:r>
              <a:rPr lang="en"/>
              <a:t>se busca evitar grandes discrepâncias nos valores calculados durante o treinamento</a:t>
            </a:r>
            <a:endParaRPr/>
          </a:p>
        </p:txBody>
      </p:sp>
      <p:sp>
        <p:nvSpPr>
          <p:cNvPr id="229" name="Google Shape;229;p42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0" name="Google Shape;230;p4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4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i="1" lang="en" sz="3240"/>
              <a:t>batch normalization</a:t>
            </a:r>
            <a:endParaRPr i="1" sz="3240"/>
          </a:p>
        </p:txBody>
      </p:sp>
      <p:sp>
        <p:nvSpPr>
          <p:cNvPr id="236" name="Google Shape;236;p43"/>
          <p:cNvSpPr txBox="1"/>
          <p:nvPr>
            <p:ph idx="1" type="body"/>
          </p:nvPr>
        </p:nvSpPr>
        <p:spPr>
          <a:xfrm>
            <a:off x="311700" y="1152475"/>
            <a:ext cx="26913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/>
              <a:t>normaliza </a:t>
            </a:r>
            <a:r>
              <a:rPr b="1" lang="en"/>
              <a:t>as entradas de cada camada</a:t>
            </a:r>
            <a:r>
              <a:rPr lang="en"/>
              <a:t>, estabilizando e acelerando o treinamento; de quebra, age como uma regularização</a:t>
            </a:r>
            <a:endParaRPr/>
          </a:p>
        </p:txBody>
      </p:sp>
      <p:sp>
        <p:nvSpPr>
          <p:cNvPr id="237" name="Google Shape;237;p43"/>
          <p:cNvSpPr txBox="1"/>
          <p:nvPr/>
        </p:nvSpPr>
        <p:spPr>
          <a:xfrm>
            <a:off x="311700" y="4601925"/>
            <a:ext cx="53604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A Gentle Introduction to Batch Normalization - MachineLearningMastery.com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  <p:pic>
        <p:nvPicPr>
          <p:cNvPr id="238" name="Google Shape;238;p4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155400" y="1170125"/>
            <a:ext cx="5836201" cy="26330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4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funções de ativação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vanishing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exploding gradients</a:t>
            </a:r>
            <a:endParaRPr i="1"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i="1" lang="en"/>
              <a:t>dying ReLU</a:t>
            </a:r>
            <a:endParaRPr i="1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8" name="Google Shape;248;p45"/>
          <p:cNvPicPr preferRelativeResize="0"/>
          <p:nvPr/>
        </p:nvPicPr>
        <p:blipFill rotWithShape="1">
          <a:blip r:embed="rId3">
            <a:alphaModFix/>
          </a:blip>
          <a:srcRect b="0" l="0" r="0" t="15498"/>
          <a:stretch/>
        </p:blipFill>
        <p:spPr>
          <a:xfrm>
            <a:off x="0" y="630362"/>
            <a:ext cx="9144000" cy="38827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46"/>
          <p:cNvPicPr preferRelativeResize="0"/>
          <p:nvPr/>
        </p:nvPicPr>
        <p:blipFill rotWithShape="1">
          <a:blip r:embed="rId3">
            <a:alphaModFix/>
          </a:blip>
          <a:srcRect b="30254" l="0" r="55311" t="15499"/>
          <a:stretch/>
        </p:blipFill>
        <p:spPr>
          <a:xfrm>
            <a:off x="0" y="630354"/>
            <a:ext cx="4086276" cy="249267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46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sp>
        <p:nvSpPr>
          <p:cNvPr id="255" name="Google Shape;255;p46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as derivadas (gradientes) das funções Sigmoid e tanh variam entre </a:t>
            </a:r>
            <a:r>
              <a:rPr lang="en" sz="2100" u="sng"/>
              <a:t>0 e 0.25</a:t>
            </a:r>
            <a:r>
              <a:rPr lang="en" sz="2100"/>
              <a:t> e </a:t>
            </a:r>
            <a:r>
              <a:rPr lang="en" sz="2100" u="sng"/>
              <a:t>0 e 1</a:t>
            </a:r>
            <a:r>
              <a:rPr lang="en" sz="2100"/>
              <a:t> respectivamente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durante o processo de </a:t>
            </a:r>
            <a:r>
              <a:rPr i="1" lang="en" sz="2100"/>
              <a:t>backpropagation</a:t>
            </a:r>
            <a:r>
              <a:rPr lang="en" sz="2100"/>
              <a:t> os gradientes podem se tornar </a:t>
            </a:r>
            <a:r>
              <a:rPr lang="en" sz="2100" u="sng"/>
              <a:t>progressivamente menores</a:t>
            </a:r>
            <a:r>
              <a:rPr lang="en" sz="2100"/>
              <a:t> ao se encaminhar para as primeiras camadas </a:t>
            </a:r>
            <a:endParaRPr sz="2100"/>
          </a:p>
        </p:txBody>
      </p:sp>
      <p:sp>
        <p:nvSpPr>
          <p:cNvPr id="256" name="Google Shape;256;p46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47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vanishing gradients</a:t>
            </a:r>
            <a:endParaRPr/>
          </a:p>
        </p:txBody>
      </p:sp>
      <p:pic>
        <p:nvPicPr>
          <p:cNvPr descr="Vanishing Gradient Problem occurs when the information about gradients starts to fading as it performs backpropagation in a deep neural network.&#10;&#10;That's why it wasn't used before 2006 when some researchers fixed it.&#10;&#10;In this video, we'll see how it actually occurs during training with help of little mathematics and also proves it experimentally with Keras and TensorFlow.&#10;&#10;If you have any query regarding this, please comment down below and if you don't have one kindly leave your feedback, it means a lot to me. &#10;&#10;Thanks and regards.&#10;&#10;For more mathematical explanation: https://mattmazur.com/2015/03/17/a-step-by-step-backpropagation-example/&#10;&#10;I'm available for your queries, ask me at:&#10;Facebook: https://www.facebook.com/developershutt&#10;Instagram: https://www.instagram.com.developershutt" id="262" name="Google Shape;262;p47" title="Vanishing Gradient Problem |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314175" cy="4114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6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48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sp>
        <p:nvSpPr>
          <p:cNvPr id="268" name="Google Shape;268;p48"/>
          <p:cNvSpPr txBox="1"/>
          <p:nvPr>
            <p:ph idx="1" type="body"/>
          </p:nvPr>
        </p:nvSpPr>
        <p:spPr>
          <a:xfrm>
            <a:off x="311675" y="573025"/>
            <a:ext cx="85206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outro lado, outras funções de ativação que permitem que gradientes durante o processo de </a:t>
            </a:r>
            <a:r>
              <a:rPr i="1" lang="en" sz="2100"/>
              <a:t>backpropagation</a:t>
            </a:r>
            <a:r>
              <a:rPr lang="en" sz="2100"/>
              <a:t> retornem </a:t>
            </a:r>
            <a:r>
              <a:rPr lang="en" sz="2100" u="sng"/>
              <a:t>valores maiores do que 1</a:t>
            </a:r>
            <a:r>
              <a:rPr lang="en" sz="2100"/>
              <a:t> potencialmente geramento um </a:t>
            </a:r>
            <a:r>
              <a:rPr lang="en" sz="2100" u="sng"/>
              <a:t>crescimento exponencial</a:t>
            </a:r>
            <a:r>
              <a:rPr lang="en" sz="2100"/>
              <a:t> dos gradientes.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soluções são: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gradient clipping</a:t>
            </a:r>
            <a:r>
              <a:rPr lang="en" sz="2100"/>
              <a:t>, ‘cortar’ os valores dos gradientes de acordo com limiares estabelecidos</a:t>
            </a:r>
            <a:endParaRPr sz="2100"/>
          </a:p>
          <a:p>
            <a:pPr indent="-36195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100"/>
              <a:buChar char="-"/>
            </a:pPr>
            <a:r>
              <a:rPr i="1" lang="en" sz="2100"/>
              <a:t>batch normalization</a:t>
            </a:r>
            <a:r>
              <a:rPr lang="en" sz="2100"/>
              <a:t>, normaliza as entradas de cada camada. Isso pode ajudar a estabilizar e acelerar o processo de treinamento</a:t>
            </a:r>
            <a:endParaRPr sz="2100"/>
          </a:p>
        </p:txBody>
      </p:sp>
      <p:sp>
        <p:nvSpPr>
          <p:cNvPr id="269" name="Google Shape;269;p48"/>
          <p:cNvSpPr txBox="1"/>
          <p:nvPr/>
        </p:nvSpPr>
        <p:spPr>
          <a:xfrm>
            <a:off x="276900" y="4569025"/>
            <a:ext cx="5403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3"/>
              </a:rPr>
              <a:t>Vanishing and Exploding Gradients Problems in Deep Learning - GeeksforGeeks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49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exploding gradients</a:t>
            </a:r>
            <a:endParaRPr/>
          </a:p>
        </p:txBody>
      </p:sp>
      <p:pic>
        <p:nvPicPr>
          <p:cNvPr descr="Note: at time stamp 2:15 I said clip by norm but written clip by value over there. I apologize for that and confirm that it is &quot;Clip by Norm&quot;.&#10;&#10;Exploding Gradient Problem was the biggest problem (especially in RNN) while training Neural Networks that cause weights to explode and networks to become unstable and impossible to converge. &#10;In this video, we'll see how Gradient Clipping helps solve Exploding Gradient problems. &#10;I hope you like it.&#10;Stay tuned. Thanks for watching&#10;&#10;Timestamps:&#10;0:00 Intro to Exploding Gradient&#10;1:08 Gradient Clipping" id="275" name="Google Shape;275;p49" title="Exploding Gradient Problem | Gradient Clipping | Quickly Explained">
            <a:hlinkClick r:id="rId3"/>
          </p:cNvPr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725435"/>
            <a:ext cx="7283500" cy="40969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7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0" name="Google Shape;280;p50"/>
          <p:cNvPicPr preferRelativeResize="0"/>
          <p:nvPr/>
        </p:nvPicPr>
        <p:blipFill rotWithShape="1">
          <a:blip r:embed="rId3">
            <a:alphaModFix/>
          </a:blip>
          <a:srcRect b="2743" l="0" r="55311" t="67479"/>
          <a:stretch/>
        </p:blipFill>
        <p:spPr>
          <a:xfrm>
            <a:off x="0" y="630352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1" name="Google Shape;281;p50"/>
          <p:cNvSpPr txBox="1"/>
          <p:nvPr>
            <p:ph type="title"/>
          </p:nvPr>
        </p:nvSpPr>
        <p:spPr>
          <a:xfrm>
            <a:off x="311700" y="318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dying ReLU</a:t>
            </a:r>
            <a:endParaRPr/>
          </a:p>
        </p:txBody>
      </p:sp>
      <p:sp>
        <p:nvSpPr>
          <p:cNvPr id="282" name="Google Shape;282;p50"/>
          <p:cNvSpPr txBox="1"/>
          <p:nvPr>
            <p:ph idx="1" type="body"/>
          </p:nvPr>
        </p:nvSpPr>
        <p:spPr>
          <a:xfrm>
            <a:off x="4086275" y="573025"/>
            <a:ext cx="4746000" cy="399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por cortar os valores negativos o uso da função </a:t>
            </a:r>
            <a:r>
              <a:rPr b="1" lang="en" sz="2100"/>
              <a:t>ReLU </a:t>
            </a:r>
            <a:r>
              <a:rPr lang="en" sz="2100"/>
              <a:t>pode gerar o problema do “dying ReLU” 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2100"/>
              <a:t>o </a:t>
            </a:r>
            <a:r>
              <a:rPr lang="en" sz="2100"/>
              <a:t>problema</a:t>
            </a:r>
            <a:r>
              <a:rPr lang="en" sz="2100"/>
              <a:t> ocorre quando alguns </a:t>
            </a:r>
            <a:r>
              <a:rPr lang="en" sz="2100" u="sng"/>
              <a:t>neurônios podem ficar inativos</a:t>
            </a:r>
            <a:r>
              <a:rPr lang="en" sz="2100"/>
              <a:t> durante o treinamento</a:t>
            </a:r>
            <a:endParaRPr sz="2100"/>
          </a:p>
          <a:p>
            <a:pPr indent="0" lvl="0" marL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en" sz="2100"/>
              <a:t>a função </a:t>
            </a:r>
            <a:r>
              <a:rPr b="1" lang="en" sz="2100"/>
              <a:t>Leaky ReLU</a:t>
            </a:r>
            <a:r>
              <a:rPr lang="en" sz="2100"/>
              <a:t>, uma variação do ReLU, permite um pequeno gradiente quando a entrada é negativa</a:t>
            </a:r>
            <a:endParaRPr sz="2100"/>
          </a:p>
        </p:txBody>
      </p:sp>
      <p:pic>
        <p:nvPicPr>
          <p:cNvPr id="283" name="Google Shape;283;p50"/>
          <p:cNvPicPr preferRelativeResize="0"/>
          <p:nvPr/>
        </p:nvPicPr>
        <p:blipFill rotWithShape="1">
          <a:blip r:embed="rId3">
            <a:alphaModFix/>
          </a:blip>
          <a:srcRect b="57530" l="49998" r="5313" t="12692"/>
          <a:stretch/>
        </p:blipFill>
        <p:spPr>
          <a:xfrm>
            <a:off x="0" y="2955927"/>
            <a:ext cx="4086276" cy="1368325"/>
          </a:xfrm>
          <a:prstGeom prst="rect">
            <a:avLst/>
          </a:prstGeom>
          <a:noFill/>
          <a:ln>
            <a:noFill/>
          </a:ln>
        </p:spPr>
      </p:pic>
      <p:sp>
        <p:nvSpPr>
          <p:cNvPr id="284" name="Google Shape;284;p50"/>
          <p:cNvSpPr txBox="1"/>
          <p:nvPr/>
        </p:nvSpPr>
        <p:spPr>
          <a:xfrm>
            <a:off x="311700" y="4749150"/>
            <a:ext cx="71406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A Comprehensive Review of Deep Learning: Architectures, Recent Advances, and Applications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prática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5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objetivo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862375" y="863550"/>
            <a:ext cx="7419300" cy="3416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codificar uma MLP do zero (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from scratch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) e visualizar o processo de </a:t>
            </a:r>
            <a:b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feed forward</a:t>
            </a:r>
            <a:r>
              <a:rPr lang="en" sz="26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r>
              <a:rPr i="1" lang="en" sz="2600">
                <a:latin typeface="Open Sans Light"/>
                <a:ea typeface="Open Sans Light"/>
                <a:cs typeface="Open Sans Light"/>
                <a:sym typeface="Open Sans Light"/>
              </a:rPr>
              <a:t>back propagation</a:t>
            </a:r>
            <a:endParaRPr i="1" sz="26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5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especificações</a:t>
            </a:r>
            <a:endParaRPr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55"/>
          <p:cNvSpPr txBox="1"/>
          <p:nvPr>
            <p:ph idx="1" type="body"/>
          </p:nvPr>
        </p:nvSpPr>
        <p:spPr>
          <a:xfrm>
            <a:off x="419525" y="159425"/>
            <a:ext cx="8139000" cy="4918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10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codificar uma </a:t>
            </a:r>
            <a:r>
              <a:rPr b="1" lang="en" sz="2000"/>
              <a:t>rede neural</a:t>
            </a:r>
            <a:r>
              <a:rPr lang="en" sz="2000"/>
              <a:t> de múltiplas camadas </a:t>
            </a:r>
            <a:br>
              <a:rPr lang="en" sz="2000"/>
            </a:br>
            <a:r>
              <a:rPr lang="en" sz="2000"/>
              <a:t>(MLP - Multi-layer Perceptron) a partir da </a:t>
            </a:r>
            <a:br>
              <a:rPr lang="en" sz="2000"/>
            </a:br>
            <a:r>
              <a:rPr lang="en" sz="2000" u="sng"/>
              <a:t>estrutura </a:t>
            </a:r>
            <a:r>
              <a:rPr lang="en" sz="2000" u="sng"/>
              <a:t>de um grafo</a:t>
            </a:r>
            <a:endParaRPr sz="2000" u="sng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implementar a função de </a:t>
            </a:r>
            <a:br>
              <a:rPr lang="en" sz="2000"/>
            </a:br>
            <a:r>
              <a:rPr b="1" i="1" lang="en" sz="2000"/>
              <a:t>feed forward </a:t>
            </a:r>
            <a:r>
              <a:rPr lang="en" sz="2000"/>
              <a:t>e </a:t>
            </a:r>
            <a:r>
              <a:rPr b="1" i="1" lang="en" sz="2000"/>
              <a:t>back propagation</a:t>
            </a:r>
            <a:endParaRPr b="1" i="1"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utilizar a </a:t>
            </a:r>
            <a:r>
              <a:rPr b="1" lang="en" sz="2000"/>
              <a:t>base de dados</a:t>
            </a:r>
            <a:r>
              <a:rPr lang="en" sz="2000"/>
              <a:t> </a:t>
            </a:r>
            <a:br>
              <a:rPr lang="en" sz="2000"/>
            </a:br>
            <a:r>
              <a:rPr lang="en" sz="2000"/>
              <a:t>“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Heart Disease</a:t>
            </a:r>
            <a:r>
              <a:rPr lang="en" sz="2000"/>
              <a:t>” para treinar (80% pra treino, 20% teste)</a:t>
            </a:r>
            <a:br>
              <a:rPr lang="en" sz="2000"/>
            </a:br>
            <a:r>
              <a:rPr lang="en" sz="2000"/>
              <a:t>a rede e em seguida realizar a inferência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2400"/>
              </a:spcAft>
              <a:buSzPts val="2000"/>
              <a:buAutoNum type="arabicPeriod"/>
            </a:pPr>
            <a:r>
              <a:rPr b="1" lang="en" sz="2000"/>
              <a:t>demonstrar/</a:t>
            </a:r>
            <a:r>
              <a:rPr b="1" lang="en" sz="2000"/>
              <a:t>visualizar </a:t>
            </a:r>
            <a:r>
              <a:rPr lang="en" sz="2000"/>
              <a:t>o </a:t>
            </a:r>
            <a:r>
              <a:rPr lang="en" sz="2000" u="sng"/>
              <a:t>progresso de treinamento</a:t>
            </a:r>
            <a:r>
              <a:rPr lang="en" sz="2000"/>
              <a:t> e da inferência usando alguma API para mostrar o grafo e os pesos sendo atualizados em tempo real</a:t>
            </a:r>
            <a:endParaRPr sz="200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56"/>
          <p:cNvSpPr txBox="1"/>
          <p:nvPr>
            <p:ph idx="1" type="body"/>
          </p:nvPr>
        </p:nvSpPr>
        <p:spPr>
          <a:xfrm>
            <a:off x="419525" y="479950"/>
            <a:ext cx="8139000" cy="408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000"/>
              <a:t>desafio (+0.5 na VA1):</a:t>
            </a:r>
            <a:endParaRPr sz="2000"/>
          </a:p>
          <a:p>
            <a:pPr indent="-355600" lvl="0" marL="457200" rtl="0" algn="l">
              <a:spcBef>
                <a:spcPts val="2400"/>
              </a:spcBef>
              <a:spcAft>
                <a:spcPts val="0"/>
              </a:spcAft>
              <a:buSzPts val="2000"/>
              <a:buAutoNum type="arabicPeriod"/>
            </a:pPr>
            <a:r>
              <a:rPr lang="en" sz="2000"/>
              <a:t>leaderboard no dataset Diabetes 130-US Hospitals for Years 1999-2008 </a:t>
            </a:r>
            <a:r>
              <a:rPr lang="en" sz="2000"/>
              <a:t>(80% pra treino, 20% teste)</a:t>
            </a:r>
            <a:br>
              <a:rPr lang="en" sz="2000"/>
            </a:br>
            <a:r>
              <a:rPr lang="en" sz="2000" u="sng">
                <a:solidFill>
                  <a:schemeClr val="hlink"/>
                </a:solidFill>
                <a:hlinkClick r:id="rId3"/>
              </a:rPr>
              <a:t>https://archive.ics.uci.edu/dataset/296/diabetes+130-us+hospitals+for+years+1999-2008</a:t>
            </a:r>
            <a:r>
              <a:rPr lang="en" sz="2000"/>
              <a:t> </a:t>
            </a:r>
            <a:endParaRPr sz="2000"/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000"/>
              <a:t>	</a:t>
            </a:r>
            <a:endParaRPr sz="170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57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exemplo</a:t>
            </a: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4" name="Google Shape;324;p5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7046825" cy="4426725"/>
          </a:xfrm>
          <a:prstGeom prst="rect">
            <a:avLst/>
          </a:prstGeom>
          <a:noFill/>
          <a:ln>
            <a:noFill/>
          </a:ln>
        </p:spPr>
      </p:pic>
      <p:sp>
        <p:nvSpPr>
          <p:cNvPr id="325" name="Google Shape;325;p58"/>
          <p:cNvSpPr txBox="1"/>
          <p:nvPr/>
        </p:nvSpPr>
        <p:spPr>
          <a:xfrm>
            <a:off x="152400" y="4579125"/>
            <a:ext cx="30000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u="sng">
                <a:solidFill>
                  <a:schemeClr val="hlink"/>
                </a:solidFill>
                <a:latin typeface="Open Sans"/>
                <a:ea typeface="Open Sans"/>
                <a:cs typeface="Open Sans"/>
                <a:sym typeface="Open Sans"/>
                <a:hlinkClick r:id="rId4"/>
              </a:rPr>
              <a:t>lsfcin/mlp</a:t>
            </a:r>
            <a:endParaRPr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59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entrega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4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60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seu </a:t>
            </a:r>
            <a:r>
              <a:rPr b="1" lang="en" sz="2800"/>
              <a:t>harness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funcionando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a sua </a:t>
            </a:r>
            <a:r>
              <a:rPr b="1" lang="en" sz="2800"/>
              <a:t>estrutura de pastas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onde fica o seu projeto e seus arquivos .md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mostrar o exercício versionado no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b="1" lang="en" sz="2800"/>
              <a:t>git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usando </a:t>
            </a:r>
            <a:r>
              <a:rPr b="1" lang="en" sz="2800"/>
              <a:t>gitflow</a:t>
            </a:r>
            <a:endParaRPr b="1" sz="2800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9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61"/>
          <p:cNvSpPr txBox="1"/>
          <p:nvPr>
            <p:ph idx="1" type="body"/>
          </p:nvPr>
        </p:nvSpPr>
        <p:spPr>
          <a:xfrm>
            <a:off x="419525" y="531725"/>
            <a:ext cx="8139000" cy="403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cada equipe terá que mostrar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código rodando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o </a:t>
            </a:r>
            <a:r>
              <a:rPr b="1" lang="en" sz="2800"/>
              <a:t>treinamento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 </a:t>
            </a:r>
            <a:r>
              <a:rPr b="1" lang="en" sz="2800"/>
              <a:t>inferência</a:t>
            </a:r>
            <a:endParaRPr b="1" sz="2800"/>
          </a:p>
          <a:p>
            <a:pPr indent="0" lvl="0" marL="0" rtl="0" algn="l">
              <a:spcBef>
                <a:spcPts val="2400"/>
              </a:spcBef>
              <a:spcAft>
                <a:spcPts val="2400"/>
              </a:spcAft>
              <a:buNone/>
            </a:pP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adicionar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 um </a:t>
            </a:r>
            <a:r>
              <a:rPr b="1" lang="en" sz="2800"/>
              <a:t>slide abaixo do último</a:t>
            </a: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,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copiando os mesmos campos e </a:t>
            </a:r>
            <a:b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</a:br>
            <a:r>
              <a:rPr lang="en" sz="2800">
                <a:latin typeface="Open Sans Light"/>
                <a:ea typeface="Open Sans Light"/>
                <a:cs typeface="Open Sans Light"/>
                <a:sym typeface="Open Sans Light"/>
              </a:rPr>
              <a:t>preenchendo eles </a:t>
            </a:r>
            <a:endParaRPr sz="2800">
              <a:latin typeface="Open Sans Light"/>
              <a:ea typeface="Open Sans Light"/>
              <a:cs typeface="Open Sans Light"/>
              <a:sym typeface="Open Sans Light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2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ranking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9" name="Shape 3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0" name="Google Shape;350;p63"/>
          <p:cNvSpPr txBox="1"/>
          <p:nvPr>
            <p:ph idx="1" type="body"/>
          </p:nvPr>
        </p:nvSpPr>
        <p:spPr>
          <a:xfrm>
            <a:off x="311700" y="177875"/>
            <a:ext cx="8520600" cy="48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68300" lvl="0" marL="457200" rtl="0" algn="l">
              <a:spcBef>
                <a:spcPts val="0"/>
              </a:spcBef>
              <a:spcAft>
                <a:spcPts val="0"/>
              </a:spcAft>
              <a:buSzPts val="2200"/>
              <a:buAutoNum type="arabicPeriod"/>
            </a:pPr>
            <a:r>
              <a:rPr lang="en" sz="2200"/>
              <a:t>Pontuação</a:t>
            </a:r>
            <a:r>
              <a:rPr lang="en" sz="2200"/>
              <a:t> : Nomes</a:t>
            </a:r>
            <a:endParaRPr sz="2100">
              <a:solidFill>
                <a:schemeClr val="dk1"/>
              </a:solidFill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4" name="Shape 3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5" name="Google Shape;355;p6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90000"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Open Sans"/>
                <a:ea typeface="Open Sans"/>
                <a:cs typeface="Open Sans"/>
                <a:sym typeface="Open Sans"/>
              </a:rPr>
              <a:t>resultados</a:t>
            </a:r>
            <a:endParaRPr b="1">
              <a:latin typeface="Open Sans"/>
              <a:ea typeface="Open Sans"/>
              <a:cs typeface="Open Sans"/>
              <a:sym typeface="Open Sans"/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6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0.885</a:t>
            </a:r>
            <a:r>
              <a:rPr lang="en"/>
              <a:t> : </a:t>
            </a:r>
            <a:r>
              <a:rPr lang="en"/>
              <a:t>Lucas Silva Figueiredo</a:t>
            </a:r>
            <a:endParaRPr/>
          </a:p>
        </p:txBody>
      </p:sp>
      <p:sp>
        <p:nvSpPr>
          <p:cNvPr id="361" name="Google Shape;361;p65"/>
          <p:cNvSpPr txBox="1"/>
          <p:nvPr>
            <p:ph idx="1" type="body"/>
          </p:nvPr>
        </p:nvSpPr>
        <p:spPr>
          <a:xfrm>
            <a:off x="311700" y="1144075"/>
            <a:ext cx="4521300" cy="387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accuracy</a:t>
            </a:r>
            <a:r>
              <a:rPr lang="en" sz="2000"/>
              <a:t>: 0.885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learning rate</a:t>
            </a:r>
            <a:r>
              <a:rPr lang="en" sz="2000"/>
              <a:t>: 0.01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activation</a:t>
            </a:r>
            <a:r>
              <a:rPr lang="en" sz="2000"/>
              <a:t>: relu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architecture</a:t>
            </a:r>
            <a:r>
              <a:rPr lang="en" sz="2000"/>
              <a:t>: 13 | 8 | 5 | 1 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1" lang="en" sz="2000"/>
              <a:t>pre-processing</a:t>
            </a:r>
            <a:r>
              <a:rPr lang="en" sz="2000"/>
              <a:t>: standardize</a:t>
            </a:r>
            <a:endParaRPr sz="2000"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b="1" lang="en" sz="2000"/>
              <a:t>comentários</a:t>
            </a:r>
            <a:r>
              <a:rPr lang="en" sz="2000"/>
              <a:t>: o uso da ‘padronização’ (standardize) ajudou a resolver o problema de gradientes explodindo no meu caso </a:t>
            </a:r>
            <a:endParaRPr sz="2000"/>
          </a:p>
        </p:txBody>
      </p:sp>
      <p:pic>
        <p:nvPicPr>
          <p:cNvPr id="362" name="Google Shape;362;p65"/>
          <p:cNvPicPr preferRelativeResize="0"/>
          <p:nvPr/>
        </p:nvPicPr>
        <p:blipFill rotWithShape="1">
          <a:blip r:embed="rId3">
            <a:alphaModFix/>
          </a:blip>
          <a:srcRect b="0" l="77048" r="0" t="0"/>
          <a:stretch/>
        </p:blipFill>
        <p:spPr>
          <a:xfrm>
            <a:off x="7106926" y="180800"/>
            <a:ext cx="2003076" cy="4907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363" name="Google Shape;363;p65"/>
          <p:cNvPicPr preferRelativeResize="0"/>
          <p:nvPr/>
        </p:nvPicPr>
        <p:blipFill rotWithShape="1">
          <a:blip r:embed="rId3">
            <a:alphaModFix/>
          </a:blip>
          <a:srcRect b="0" l="12390" r="35108" t="3754"/>
          <a:stretch/>
        </p:blipFill>
        <p:spPr>
          <a:xfrm>
            <a:off x="4697863" y="1261362"/>
            <a:ext cx="2240298" cy="2309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57200"/>
            <a:ext cx="7772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000000"/>
                </a:solidFill>
              </a:defRPr>
            </a:pPr>
            <a:r>
              <a:t>0.885 : Cauã Lira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1E1E1E"/>
                </a:solidFill>
              </a:defRPr>
            </a:pPr>
            <a:r>
              <a:t>accuracy: 0.885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learning rate: 0.01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activation: relu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architecture: 13 | 8 | 5 | 1</a:t>
            </a: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pre-processing: standardize</a:t>
            </a:r>
          </a:p>
          <a:p>
            <a:pPr>
              <a:defRPr sz="1300">
                <a:solidFill>
                  <a:srgbClr val="1E1E1E"/>
                </a:solidFill>
              </a:defRPr>
            </a:pPr>
          </a:p>
          <a:p>
            <a:pPr>
              <a:defRPr sz="1300">
                <a:solidFill>
                  <a:srgbClr val="1E1E1E"/>
                </a:solidFill>
              </a:defRPr>
            </a:pPr>
            <a:r>
              <a:t>comentários: A padronização (standardize) garantiu estabilidade dos gradientes. Identificamos que o dataset heart.csv (1025 linhas) possui 70.5% de duplicatas (302 pacientes únicos); sem desduplicação ocorre data leakage inflando a acurácia para &gt;95%. Com treino rigoroso e regularização, a convergência real se consolida em 88.5%.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ucas - UABJ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