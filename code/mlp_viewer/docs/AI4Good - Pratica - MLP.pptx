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65"/>
  </p:sldIdLst>
  <p:sldSz cy="5143500" cx="9144000"/>
  <p:notesSz cx="6858000" cy="9144000"/>
  <p:embeddedFontLst>
    <p:embeddedFont>
      <p:font typeface="Raleway Black"/>
      <p:bold r:id="rId54"/>
      <p:boldItalic r:id="rId55"/>
    </p:embeddedFont>
    <p:embeddedFont>
      <p:font typeface="Shadows Into Light"/>
      <p:regular r:id="rId56"/>
    </p:embeddedFont>
    <p:embeddedFont>
      <p:font typeface="Open Sans Light"/>
      <p:regular r:id="rId57"/>
      <p:bold r:id="rId58"/>
      <p:italic r:id="rId59"/>
      <p:boldItalic r:id="rId60"/>
    </p:embeddedFont>
    <p:embeddedFont>
      <p:font typeface="Open Sa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font" Target="fonts/RalewayBlack-bold.fntdata"/><Relationship Id="rId55" Type="http://schemas.openxmlformats.org/officeDocument/2006/relationships/font" Target="fonts/RalewayBlack-boldItalic.fntdata"/><Relationship Id="rId56" Type="http://schemas.openxmlformats.org/officeDocument/2006/relationships/font" Target="fonts/ShadowsIntoLight-regular.fntdata"/><Relationship Id="rId57" Type="http://schemas.openxmlformats.org/officeDocument/2006/relationships/font" Target="fonts/OpenSansLight-regular.fntdata"/><Relationship Id="rId58" Type="http://schemas.openxmlformats.org/officeDocument/2006/relationships/font" Target="fonts/OpenSansLight-bold.fntdata"/><Relationship Id="rId59" Type="http://schemas.openxmlformats.org/officeDocument/2006/relationships/font" Target="fonts/OpenSansLight-italic.fntdata"/><Relationship Id="rId60" Type="http://schemas.openxmlformats.org/officeDocument/2006/relationships/font" Target="fonts/OpenSansLight-boldItalic.fntdata"/><Relationship Id="rId61" Type="http://schemas.openxmlformats.org/officeDocument/2006/relationships/font" Target="fonts/OpenSans-regular.fntdata"/><Relationship Id="rId62" Type="http://schemas.openxmlformats.org/officeDocument/2006/relationships/font" Target="fonts/OpenSans-bold.fntdata"/><Relationship Id="rId63" Type="http://schemas.openxmlformats.org/officeDocument/2006/relationships/font" Target="fonts/OpenSans-italic.fntdata"/><Relationship Id="rId64" Type="http://schemas.openxmlformats.org/officeDocument/2006/relationships/font" Target="fonts/OpenSans-boldItalic.fntdata"/><Relationship Id="rId6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ea0464e5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ea0464e5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fb96587ad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fb96587ad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fb96587ad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fb96587ad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fb96587ad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fb96587ad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ea0464e5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ea0464e5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fb96587ad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fb96587ad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ea0464e5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ea0464e5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b96587ad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b96587ad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ea0464e5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ea0464e5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fb96587ad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fb96587ad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fb96587ad_1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fb96587ad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fb96587ad_1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fb96587ad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b96587ad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fb96587ad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fb96587ad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fb96587ad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ea0464e5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ea0464e5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ea0464e5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ea0464e5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fx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fx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fb96587ad_1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fb96587ad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fb96587ad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fb96587ad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fb96587ad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fb96587ad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fb96587ad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fb96587ad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fx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fx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fb96587ad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fb96587ad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b96587ad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fb96587ad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fx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fx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fb96587ad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fb96587ad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fb96587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7fb96587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fb96587ad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fb96587ad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fb96587ad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fb96587ad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fb96587ad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fb96587a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fb96587ad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fb96587ad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fb96587ad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fb96587ad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89ea4407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89ea4407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af9df4d8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af9df4d8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af9df4d8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af9df4d8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2812ae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12812ae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c31208c2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c31208c2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ea0464e5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ea0464e5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ea0464e5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ea0464e5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ea0464e5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ea0464e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ea0464e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7ea0464e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3f46d037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3f46d037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ea0464e5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ea0464e5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fb96587ad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7fb96587ad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fb96587ad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7fb96587ad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fb96587ad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fb96587ad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fb96587ad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7fb96587ad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572258" y="1130675"/>
            <a:ext cx="825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72250" y="3220225"/>
            <a:ext cx="825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600"/>
              <a:buNone/>
              <a:defRPr sz="4600">
                <a:solidFill>
                  <a:srgbClr val="6666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˗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Font typeface="Shadows Into Light"/>
              <a:buChar char="−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﹣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-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ᐧ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○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■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●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○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■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1067279" y="273844"/>
            <a:ext cx="7448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1067279" y="1369219"/>
            <a:ext cx="7448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﹣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ᐧ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1067279" y="4767263"/>
            <a:ext cx="1618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575"/>
            <a:ext cx="394500" cy="5143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824451" y="4570800"/>
            <a:ext cx="13195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300"/>
              <a:buFont typeface="Open Sans"/>
              <a:buChar char="−"/>
              <a:defRPr sz="2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﹣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-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ᐧ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○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■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●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○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■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730949" y="4663225"/>
            <a:ext cx="22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LUCAS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SILVA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FIGUEIREDO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tensorflow.org/api_docs/python/tf/keras/initializers/GlorotUnifor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vivek-murali.medium.com/is-data-normalization-always-necessary-before-training-machine-learning-models-15b10b17e43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www.datageeks.com.br/outlier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nebius.com/blog/posts/epochs-vs-iterations-in-machine-learning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hyperlink" Target="https://www.i2tutorials.com/what-is-the-difference-between-training-dataset-testing-dataset-validation-dataset-what-is-the-common-ratio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i2tutorials.com/what-is-the-difference-between-training-dataset-testing-dataset-validation-dataset-what-is-the-common-ratio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i2tutorials.com/what-is-the-difference-between-training-dataset-testing-dataset-validation-dataset-what-is-the-common-ratio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hyperlink" Target="https://www.deeplearning.ai/ai-notes/regularization/index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gif"/><Relationship Id="rId4" Type="http://schemas.openxmlformats.org/officeDocument/2006/relationships/hyperlink" Target="https://colab.research.google.com/github/storopoli/ciencia-de-dados/blob/main/notebooks/Aula_18_b_Redes_Neurais_com_PyTorch.ipynb#scrollTo=_a39eBHj54r3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gif"/><Relationship Id="rId4" Type="http://schemas.openxmlformats.org/officeDocument/2006/relationships/hyperlink" Target="https://colab.research.google.com/github/storopoli/ciencia-de-dados/blob/main/notebooks/Aula_18_b_Redes_Neurais_com_PyTorch.ipynb#scrollTo=_a39eBHj54r3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machinelearningmastery.com/a-gentle-introduction-to-batch-normalization/" TargetMode="External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machinelearningmastery.com/a-gentle-introduction-to-batch-normalization/" TargetMode="External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hyperlink" Target="https://www.geeksforgeeks.org/deep-learning/vanishing-and-exploding-gradients-problems-in-deep-learning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youtube.com/watch?v=8z3DFk4VxRo" TargetMode="External"/><Relationship Id="rId4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geeksforgeeks.org/deep-learning/vanishing-and-exploding-gradients-problems-in-deep-learning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www.youtube.com/watch?v=Dta_zntkiuo" TargetMode="External"/><Relationship Id="rId4" Type="http://schemas.openxmlformats.org/officeDocument/2006/relationships/image" Target="../media/image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hyperlink" Target="https://www.mdpi.com/2078-2489/15/12/755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kaggle.com/datasets/johnsmith88/heart-disease-dataset?resource=download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archive.ics.uci.edu/dataset/296/diabetes+130-us+hospitals+for+years+1999-2008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hyperlink" Target="https://github.com/lsfcin/mlp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ctrTitle"/>
          </p:nvPr>
        </p:nvSpPr>
        <p:spPr>
          <a:xfrm>
            <a:off x="572258" y="1130675"/>
            <a:ext cx="825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Tópicos em IA - Turma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AI4Good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8"/>
          <p:cNvSpPr txBox="1"/>
          <p:nvPr>
            <p:ph idx="1" type="subTitle"/>
          </p:nvPr>
        </p:nvSpPr>
        <p:spPr>
          <a:xfrm>
            <a:off x="572250" y="3220225"/>
            <a:ext cx="825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Prática - MLP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noções complementares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</a:t>
            </a:r>
            <a:r>
              <a:rPr i="1" lang="en"/>
              <a:t>deep learning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inicialização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inicialização dos pesos da rede</a:t>
            </a:r>
            <a:endParaRPr/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28"/>
              <a:t>a priori os pesos da rede são </a:t>
            </a:r>
            <a:r>
              <a:rPr lang="en" sz="1928" u="sng"/>
              <a:t>inicializados aleatoriamente</a:t>
            </a:r>
            <a:endParaRPr sz="1928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28"/>
              <a:t>alternativamente a </a:t>
            </a:r>
            <a:r>
              <a:rPr lang="en" sz="1928" u="sng"/>
              <a:t>inicialização Xavier ou Glorot</a:t>
            </a:r>
            <a:r>
              <a:rPr lang="en" sz="1928"/>
              <a:t> </a:t>
            </a:r>
            <a:br>
              <a:rPr lang="en" sz="1928"/>
            </a:br>
            <a:r>
              <a:rPr lang="en" sz="1928"/>
              <a:t>é uma técnica de inicialização de pesos para aprimorar o treinamento</a:t>
            </a:r>
            <a:endParaRPr sz="1928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28"/>
              <a:t>a proposta é manter um </a:t>
            </a:r>
            <a:br>
              <a:rPr lang="en" sz="1928"/>
            </a:br>
            <a:r>
              <a:rPr lang="en" sz="1928" u="sng"/>
              <a:t>equilíbrio na variância das ativações</a:t>
            </a:r>
            <a:r>
              <a:rPr lang="en" sz="1928"/>
              <a:t> </a:t>
            </a:r>
            <a:br>
              <a:rPr lang="en" sz="1928"/>
            </a:br>
            <a:r>
              <a:rPr lang="en" sz="1928"/>
              <a:t>entre as camadas</a:t>
            </a:r>
            <a:endParaRPr sz="1928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928"/>
              <a:t>é particularmente eficaz na </a:t>
            </a:r>
            <a:br>
              <a:rPr lang="en" sz="1928"/>
            </a:br>
            <a:r>
              <a:rPr lang="en" sz="1928" u="sng"/>
              <a:t>prevenção de gradientes que desaparecem ou explodem</a:t>
            </a:r>
            <a:r>
              <a:rPr lang="en" sz="1928"/>
              <a:t>, </a:t>
            </a:r>
            <a:br>
              <a:rPr lang="en" sz="1928"/>
            </a:br>
            <a:r>
              <a:rPr lang="en" sz="1928"/>
              <a:t>problemas comuns em redes profundas.</a:t>
            </a:r>
            <a:endParaRPr sz="1928"/>
          </a:p>
        </p:txBody>
      </p:sp>
      <p:sp>
        <p:nvSpPr>
          <p:cNvPr id="97" name="Google Shape;97;p21"/>
          <p:cNvSpPr txBox="1"/>
          <p:nvPr/>
        </p:nvSpPr>
        <p:spPr>
          <a:xfrm>
            <a:off x="311700" y="4568875"/>
            <a:ext cx="502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tf.keras.initializers.GlorotUniform  |  TensorFlow v2.16.1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pré-processamento dos dados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normalização e padronização</a:t>
            </a:r>
            <a:endParaRPr/>
          </a:p>
        </p:txBody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pré-processamento dos dados pode ajudar</a:t>
            </a:r>
            <a:endParaRPr/>
          </a:p>
        </p:txBody>
      </p:sp>
      <p:pic>
        <p:nvPicPr>
          <p:cNvPr id="109" name="Google Shape;1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75" y="1651000"/>
            <a:ext cx="6278101" cy="27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3"/>
          <p:cNvSpPr txBox="1"/>
          <p:nvPr/>
        </p:nvSpPr>
        <p:spPr>
          <a:xfrm>
            <a:off x="434475" y="4228900"/>
            <a:ext cx="627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Is Data Normalization Always Necessary Before Training Machine Learning Models? A Deep Dive into Use Cases | by Vivek Murali | Medium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outliers</a:t>
            </a:r>
            <a:endParaRPr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</a:t>
            </a:r>
            <a:endParaRPr/>
          </a:p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>
            <a:off x="311700" y="1152475"/>
            <a:ext cx="431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 podem prejudicar bastante os dados se forem aplicadas normalizações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escolha bem ou experimente diferentes formas de pré-processamento para não sofrer com esse problema</a:t>
            </a:r>
            <a:endParaRPr/>
          </a:p>
        </p:txBody>
      </p:sp>
      <p:pic>
        <p:nvPicPr>
          <p:cNvPr id="122" name="Google Shape;1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747" y="1293825"/>
            <a:ext cx="3845826" cy="28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 txBox="1"/>
          <p:nvPr/>
        </p:nvSpPr>
        <p:spPr>
          <a:xfrm>
            <a:off x="311700" y="4329600"/>
            <a:ext cx="488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Outliers: O que são Pontos Fora da Curva e Como Tratá-los?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fitting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pouco ou muito ‘poderosas’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</a:t>
            </a:r>
            <a:endParaRPr/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668303" cy="300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épocas (</a:t>
            </a:r>
            <a:r>
              <a:rPr i="1" lang="en"/>
              <a:t>epoch</a:t>
            </a:r>
            <a:r>
              <a:rPr lang="en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lotes (</a:t>
            </a:r>
            <a:r>
              <a:rPr i="1" lang="en"/>
              <a:t>batch</a:t>
            </a:r>
            <a:r>
              <a:rPr lang="en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iterações (</a:t>
            </a:r>
            <a:r>
              <a:rPr i="1" lang="en"/>
              <a:t>iteration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</a:t>
            </a:r>
            <a:r>
              <a:rPr lang="en" sz="2000"/>
              <a:t>ote (</a:t>
            </a:r>
            <a:r>
              <a:rPr b="1" lang="en" sz="2000"/>
              <a:t>batch</a:t>
            </a:r>
            <a:r>
              <a:rPr lang="en" sz="2000"/>
              <a:t>): um </a:t>
            </a:r>
            <a:r>
              <a:rPr lang="en" sz="2000" u="sng"/>
              <a:t>subconjunto dos dados</a:t>
            </a:r>
            <a:r>
              <a:rPr lang="en" sz="2000"/>
              <a:t> de treinamento processados ​​juntos antes do otimizador atualizar os pesos.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iteração (</a:t>
            </a:r>
            <a:r>
              <a:rPr b="1" lang="en" sz="2000"/>
              <a:t>iteration</a:t>
            </a:r>
            <a:r>
              <a:rPr lang="en" sz="2000"/>
              <a:t>): </a:t>
            </a:r>
            <a:r>
              <a:rPr lang="en" sz="2000" u="sng"/>
              <a:t>uma etapa de atualização</a:t>
            </a:r>
            <a:r>
              <a:rPr lang="en" sz="2000"/>
              <a:t> de parâmetro; ou seja, cada vez que a rede conclui uma passagem para frente e para trás em um lote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época (</a:t>
            </a:r>
            <a:r>
              <a:rPr b="1" lang="en" sz="2000"/>
              <a:t>epoch</a:t>
            </a:r>
            <a:r>
              <a:rPr lang="en" sz="2000"/>
              <a:t>): uma </a:t>
            </a:r>
            <a:r>
              <a:rPr lang="en" sz="2000" u="sng"/>
              <a:t>passagem completa por cada amostra</a:t>
            </a:r>
            <a:r>
              <a:rPr lang="en" sz="2000"/>
              <a:t> de treinamento, geralmente composta de muitas iterações</a:t>
            </a:r>
            <a:endParaRPr sz="2000"/>
          </a:p>
        </p:txBody>
      </p:sp>
      <p:sp>
        <p:nvSpPr>
          <p:cNvPr id="145" name="Google Shape;14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epoch, batch, iteration</a:t>
            </a:r>
            <a:endParaRPr/>
          </a:p>
        </p:txBody>
      </p:sp>
      <p:sp>
        <p:nvSpPr>
          <p:cNvPr id="146" name="Google Shape;146;p29"/>
          <p:cNvSpPr txBox="1"/>
          <p:nvPr/>
        </p:nvSpPr>
        <p:spPr>
          <a:xfrm>
            <a:off x="311700" y="4703625"/>
            <a:ext cx="493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Epochs vs iterations in machine learning: what’s the difference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hiperparâmetros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hiperparâmetros</a:t>
            </a:r>
            <a:endParaRPr/>
          </a:p>
        </p:txBody>
      </p:sp>
      <p:sp>
        <p:nvSpPr>
          <p:cNvPr id="157" name="Google Shape;15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−"/>
            </a:pPr>
            <a:r>
              <a:rPr b="1" lang="en" sz="2100"/>
              <a:t>taxa de aprendizagem (</a:t>
            </a:r>
            <a:r>
              <a:rPr b="1" i="1" lang="en" sz="2100"/>
              <a:t>learning rate</a:t>
            </a:r>
            <a:r>
              <a:rPr b="1" lang="en" sz="2100"/>
              <a:t>)</a:t>
            </a:r>
            <a:r>
              <a:rPr lang="en" sz="2100"/>
              <a:t>: 0.03, 0.01, 0.003, 0.001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−"/>
            </a:pPr>
            <a:r>
              <a:rPr b="1" lang="en" sz="2100"/>
              <a:t>arquitetura</a:t>
            </a:r>
            <a:r>
              <a:rPr lang="en" sz="2100"/>
              <a:t>: camadas escondidas e neurônios em cada uma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−"/>
            </a:pPr>
            <a:r>
              <a:rPr b="1" lang="en" sz="2100"/>
              <a:t>função de ativação</a:t>
            </a:r>
            <a:r>
              <a:rPr lang="en" sz="2100"/>
              <a:t>: ReLU, tanh, etc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−"/>
            </a:pPr>
            <a:r>
              <a:rPr b="1" lang="en" sz="2100"/>
              <a:t>número de épocas</a:t>
            </a:r>
            <a:r>
              <a:rPr lang="en" sz="2100"/>
              <a:t>: 10, 20, 50, 100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−"/>
            </a:pPr>
            <a:r>
              <a:rPr b="1" lang="en" sz="2100"/>
              <a:t>normalização, padronização</a:t>
            </a:r>
            <a:endParaRPr b="1"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−"/>
            </a:pPr>
            <a:r>
              <a:rPr b="1" lang="en" sz="2100"/>
              <a:t>dropout</a:t>
            </a:r>
            <a:endParaRPr b="1" sz="2100"/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Font typeface="Arial"/>
              <a:buChar char="−"/>
            </a:pPr>
            <a:r>
              <a:rPr b="1" lang="en" sz="2100"/>
              <a:t>regularização </a:t>
            </a:r>
            <a:endParaRPr b="1"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divisão dos dados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treinamento, validação e teste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conjuntos de treino, validação e teste</a:t>
            </a:r>
            <a:endParaRPr/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16313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 txBox="1"/>
          <p:nvPr/>
        </p:nvSpPr>
        <p:spPr>
          <a:xfrm>
            <a:off x="311700" y="4501050"/>
            <a:ext cx="683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What is the difference between Training dataset, Testing Dataset, Validation dataset? What is the Common Ratio? | i2tutorials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conjuntos de treino, validação e teste</a:t>
            </a:r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311700" y="4501050"/>
            <a:ext cx="683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What is the difference between Training dataset, Testing Dataset, Validation dataset? What is the Common Ratio? | i2tutorials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SKIPPED — </a:t>
            </a:r>
            <a:r>
              <a:rPr lang="en" sz="1700"/>
              <a:t>desenvolvedores geralmente separar os dados dos datasets em porções para não enviesar o modelo, justamente evitar overfitting, deixá-lo mais generalizável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treino</a:t>
            </a:r>
            <a:r>
              <a:rPr lang="en"/>
              <a:t>: usado para de fato treinar o modelo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validação</a:t>
            </a:r>
            <a:r>
              <a:rPr lang="en"/>
              <a:t>: usado para refinar os hiperparâmetros, taxa de aprendizagem, número de épocas,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teste</a:t>
            </a:r>
            <a:r>
              <a:rPr lang="en"/>
              <a:t>: usado de fato para reportar a acurácia do modelo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40"/>
              <a:t>conjuntos de treino, validação e teste</a:t>
            </a:r>
            <a:endParaRPr sz="3240"/>
          </a:p>
        </p:txBody>
      </p:sp>
      <p:sp>
        <p:nvSpPr>
          <p:cNvPr id="182" name="Google Shape;182;p35"/>
          <p:cNvSpPr txBox="1"/>
          <p:nvPr/>
        </p:nvSpPr>
        <p:spPr>
          <a:xfrm>
            <a:off x="311700" y="4501050"/>
            <a:ext cx="683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What is the difference between Training dataset, Testing Dataset, Validation dataset? What is the Common Ratio? | i2tutorials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desenvolvedores geralmente separam os dados dos datasets em porções para não enviesar o modelo, justamente evitar overfitting, deixá-lo mais generalizável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treino</a:t>
            </a:r>
            <a:r>
              <a:rPr lang="en"/>
              <a:t>: usado para de fato treinar o modelo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validação</a:t>
            </a:r>
            <a:r>
              <a:rPr lang="en"/>
              <a:t>: usado para refinar os hiperparâmetros, taxa de aprendizagem, número de épocas,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teste</a:t>
            </a:r>
            <a:r>
              <a:rPr lang="en"/>
              <a:t>: usado de fato para reportar a acurácia do modelo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regularização</a:t>
            </a:r>
            <a:br>
              <a:rPr lang="en"/>
            </a:br>
            <a:r>
              <a:rPr i="1" lang="en"/>
              <a:t>early stopping</a:t>
            </a:r>
            <a:endParaRPr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early stopping</a:t>
            </a:r>
            <a:endParaRPr i="1"/>
          </a:p>
        </p:txBody>
      </p:sp>
      <p:sp>
        <p:nvSpPr>
          <p:cNvPr id="194" name="Google Shape;194;p37"/>
          <p:cNvSpPr txBox="1"/>
          <p:nvPr>
            <p:ph idx="1" type="body"/>
          </p:nvPr>
        </p:nvSpPr>
        <p:spPr>
          <a:xfrm>
            <a:off x="311700" y="1152475"/>
            <a:ext cx="284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para evitar o overfitting o treinamento é parado quando o erro no </a:t>
            </a:r>
            <a:r>
              <a:rPr lang="en" u="sng"/>
              <a:t>conjunto de validação</a:t>
            </a:r>
            <a:r>
              <a:rPr lang="en"/>
              <a:t> começa a aumentar</a:t>
            </a:r>
            <a:endParaRPr/>
          </a:p>
        </p:txBody>
      </p:sp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8648" y="498000"/>
            <a:ext cx="5673642" cy="39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7"/>
          <p:cNvSpPr txBox="1"/>
          <p:nvPr/>
        </p:nvSpPr>
        <p:spPr>
          <a:xfrm>
            <a:off x="311700" y="4568875"/>
            <a:ext cx="485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Regularizing neural networks - deeplearning.ai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dropout</a:t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dropout</a:t>
            </a:r>
            <a:endParaRPr i="1"/>
          </a:p>
        </p:txBody>
      </p:sp>
      <p:sp>
        <p:nvSpPr>
          <p:cNvPr id="207" name="Google Shape;207;p39"/>
          <p:cNvSpPr txBox="1"/>
          <p:nvPr>
            <p:ph idx="1" type="body"/>
          </p:nvPr>
        </p:nvSpPr>
        <p:spPr>
          <a:xfrm>
            <a:off x="311700" y="1152475"/>
            <a:ext cx="269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38"/>
              <a:t>SKIPPED — </a:t>
            </a:r>
            <a:r>
              <a:rPr lang="en" sz="1438"/>
              <a:t>u</a:t>
            </a:r>
            <a:r>
              <a:rPr lang="en" sz="1438"/>
              <a:t>ma </a:t>
            </a:r>
            <a:r>
              <a:rPr b="1" lang="en" sz="1438"/>
              <a:t>medida de regularização</a:t>
            </a:r>
            <a:r>
              <a:rPr lang="en" sz="1438"/>
              <a:t> na qual </a:t>
            </a:r>
            <a:r>
              <a:rPr lang="en" sz="1438" u="sng"/>
              <a:t>evita-se overfitting</a:t>
            </a:r>
            <a:endParaRPr sz="143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i="1" lang="en" sz="1438"/>
              <a:t>dropout </a:t>
            </a:r>
            <a:r>
              <a:rPr lang="en" sz="1438"/>
              <a:t>é um algoritmo que especifica que a cada iteração de época do treino os </a:t>
            </a:r>
            <a:r>
              <a:rPr lang="en" sz="1438" u="sng"/>
              <a:t>neurônios possuem uma probabilidade de serem removidos</a:t>
            </a:r>
            <a:r>
              <a:rPr lang="en" sz="1438"/>
              <a:t> (não utilizados) para a aprendizagem</a:t>
            </a:r>
            <a:endParaRPr sz="143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438"/>
              <a:t>geralmente a probabilidade ideal fica em torno de 20%</a:t>
            </a:r>
            <a:endParaRPr sz="1438"/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000" y="1152475"/>
            <a:ext cx="58293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9"/>
          <p:cNvSpPr txBox="1"/>
          <p:nvPr/>
        </p:nvSpPr>
        <p:spPr>
          <a:xfrm>
            <a:off x="311700" y="4601925"/>
            <a:ext cx="536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Aula_18_b_Redes_Neurais_com_PyTorch.ipynb - Colab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3240"/>
              <a:t>dropout</a:t>
            </a:r>
            <a:endParaRPr i="1" sz="3240"/>
          </a:p>
        </p:txBody>
      </p:sp>
      <p:sp>
        <p:nvSpPr>
          <p:cNvPr id="215" name="Google Shape;215;p40"/>
          <p:cNvSpPr txBox="1"/>
          <p:nvPr>
            <p:ph idx="1" type="body"/>
          </p:nvPr>
        </p:nvSpPr>
        <p:spPr>
          <a:xfrm>
            <a:off x="311700" y="1152475"/>
            <a:ext cx="269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38"/>
              <a:t>uma </a:t>
            </a:r>
            <a:r>
              <a:rPr b="1" lang="en" sz="1438"/>
              <a:t>medida de regularização</a:t>
            </a:r>
            <a:r>
              <a:rPr lang="en" sz="1438"/>
              <a:t> na qual </a:t>
            </a:r>
            <a:r>
              <a:rPr lang="en" sz="1438" u="sng"/>
              <a:t>evita-se overfitting</a:t>
            </a:r>
            <a:endParaRPr sz="143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i="1" lang="en" sz="1438"/>
              <a:t>dropout </a:t>
            </a:r>
            <a:r>
              <a:rPr lang="en" sz="1438"/>
              <a:t>é um algoritmo que especifica que a cada iteração de época do treino os </a:t>
            </a:r>
            <a:r>
              <a:rPr lang="en" sz="1438" u="sng"/>
              <a:t>neurônios possuem uma probabilidade de serem removidos</a:t>
            </a:r>
            <a:r>
              <a:rPr lang="en" sz="1438"/>
              <a:t> (não utilizados) para a aprendizagem</a:t>
            </a:r>
            <a:endParaRPr sz="1438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438"/>
              <a:t>geralmente a probabilidade utilizada fica entre 20% e 50%, dependendo da rede e da camada</a:t>
            </a:r>
            <a:endParaRPr sz="1438"/>
          </a:p>
        </p:txBody>
      </p:sp>
      <p:pic>
        <p:nvPicPr>
          <p:cNvPr id="216" name="Google Shape;2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000" y="1152475"/>
            <a:ext cx="58293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0"/>
          <p:cNvSpPr txBox="1"/>
          <p:nvPr/>
        </p:nvSpPr>
        <p:spPr>
          <a:xfrm>
            <a:off x="311700" y="4601925"/>
            <a:ext cx="536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Aula_18_b_Redes_Neurais_com_PyTorch.ipynb - Colab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batch normalization</a:t>
            </a:r>
            <a:endParaRPr i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batch normalization</a:t>
            </a:r>
            <a:endParaRPr i="1"/>
          </a:p>
        </p:txBody>
      </p:sp>
      <p:sp>
        <p:nvSpPr>
          <p:cNvPr id="228" name="Google Shape;228;p42"/>
          <p:cNvSpPr txBox="1"/>
          <p:nvPr>
            <p:ph idx="1" type="body"/>
          </p:nvPr>
        </p:nvSpPr>
        <p:spPr>
          <a:xfrm>
            <a:off x="311700" y="1152475"/>
            <a:ext cx="269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SKIPPED — </a:t>
            </a:r>
            <a:r>
              <a:rPr lang="en"/>
              <a:t>outra </a:t>
            </a:r>
            <a:r>
              <a:rPr b="1" lang="en"/>
              <a:t>medida de regularização</a:t>
            </a:r>
            <a:r>
              <a:rPr lang="en"/>
              <a:t> na qual </a:t>
            </a:r>
            <a:r>
              <a:rPr lang="en"/>
              <a:t>se busca evitar grandes discrepâncias nos valores calculados durante o treinamento</a:t>
            </a:r>
            <a:endParaRPr/>
          </a:p>
        </p:txBody>
      </p:sp>
      <p:sp>
        <p:nvSpPr>
          <p:cNvPr id="229" name="Google Shape;229;p42"/>
          <p:cNvSpPr txBox="1"/>
          <p:nvPr/>
        </p:nvSpPr>
        <p:spPr>
          <a:xfrm>
            <a:off x="311700" y="4601925"/>
            <a:ext cx="536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A Gentle Introduction to Batch Normalization - MachineLearningMastery.com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0" name="Google Shape;23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5400" y="1170125"/>
            <a:ext cx="5836201" cy="26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3240"/>
              <a:t>batch normalization</a:t>
            </a:r>
            <a:endParaRPr i="1" sz="3240"/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311700" y="1152475"/>
            <a:ext cx="269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normaliza </a:t>
            </a:r>
            <a:r>
              <a:rPr b="1" lang="en"/>
              <a:t>as entradas de cada camada</a:t>
            </a:r>
            <a:r>
              <a:rPr lang="en"/>
              <a:t>, estabilizando e acelerando o treinamento; de quebra, age como uma regularização</a:t>
            </a:r>
            <a:endParaRPr/>
          </a:p>
        </p:txBody>
      </p:sp>
      <p:sp>
        <p:nvSpPr>
          <p:cNvPr id="237" name="Google Shape;237;p43"/>
          <p:cNvSpPr txBox="1"/>
          <p:nvPr/>
        </p:nvSpPr>
        <p:spPr>
          <a:xfrm>
            <a:off x="311700" y="4601925"/>
            <a:ext cx="536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A Gentle Introduction to Batch Normalization - MachineLearningMastery.com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5400" y="1170125"/>
            <a:ext cx="5836201" cy="26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funções de ativação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vanishing gradients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exploding gradients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dying ReLU</a:t>
            </a:r>
            <a:endParaRPr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5"/>
          <p:cNvPicPr preferRelativeResize="0"/>
          <p:nvPr/>
        </p:nvPicPr>
        <p:blipFill rotWithShape="1">
          <a:blip r:embed="rId3">
            <a:alphaModFix/>
          </a:blip>
          <a:srcRect b="0" l="0" r="0" t="15498"/>
          <a:stretch/>
        </p:blipFill>
        <p:spPr>
          <a:xfrm>
            <a:off x="0" y="630362"/>
            <a:ext cx="9144000" cy="388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6"/>
          <p:cNvPicPr preferRelativeResize="0"/>
          <p:nvPr/>
        </p:nvPicPr>
        <p:blipFill rotWithShape="1">
          <a:blip r:embed="rId3">
            <a:alphaModFix/>
          </a:blip>
          <a:srcRect b="30254" l="0" r="55311" t="15499"/>
          <a:stretch/>
        </p:blipFill>
        <p:spPr>
          <a:xfrm>
            <a:off x="0" y="630354"/>
            <a:ext cx="4086276" cy="24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3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vanishing gradients</a:t>
            </a:r>
            <a:endParaRPr/>
          </a:p>
        </p:txBody>
      </p:sp>
      <p:sp>
        <p:nvSpPr>
          <p:cNvPr id="255" name="Google Shape;255;p46"/>
          <p:cNvSpPr txBox="1"/>
          <p:nvPr>
            <p:ph idx="1" type="body"/>
          </p:nvPr>
        </p:nvSpPr>
        <p:spPr>
          <a:xfrm>
            <a:off x="4086275" y="573025"/>
            <a:ext cx="4746000" cy="3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as derivadas (gradientes) das funções Sigmoid e tanh variam entre </a:t>
            </a:r>
            <a:r>
              <a:rPr lang="en" sz="2100" u="sng"/>
              <a:t>0 e 0.25</a:t>
            </a:r>
            <a:r>
              <a:rPr lang="en" sz="2100"/>
              <a:t> e </a:t>
            </a:r>
            <a:r>
              <a:rPr lang="en" sz="2100" u="sng"/>
              <a:t>0 e 1</a:t>
            </a:r>
            <a:r>
              <a:rPr lang="en" sz="2100"/>
              <a:t> respectivamente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durante o processo de </a:t>
            </a:r>
            <a:r>
              <a:rPr i="1" lang="en" sz="2100"/>
              <a:t>backpropagation</a:t>
            </a:r>
            <a:r>
              <a:rPr lang="en" sz="2100"/>
              <a:t> os gradientes podem se tornar </a:t>
            </a:r>
            <a:r>
              <a:rPr lang="en" sz="2100" u="sng"/>
              <a:t>progressivamente menores</a:t>
            </a:r>
            <a:r>
              <a:rPr lang="en" sz="2100"/>
              <a:t> ao se encaminhar para as primeiras camadas </a:t>
            </a:r>
            <a:endParaRPr sz="2100"/>
          </a:p>
        </p:txBody>
      </p:sp>
      <p:sp>
        <p:nvSpPr>
          <p:cNvPr id="256" name="Google Shape;256;p46"/>
          <p:cNvSpPr txBox="1"/>
          <p:nvPr/>
        </p:nvSpPr>
        <p:spPr>
          <a:xfrm>
            <a:off x="276900" y="4569025"/>
            <a:ext cx="540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Vanishing and Exploding Gradients Problems in Deep Learning - GeeksforGeeks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/>
          <p:nvPr>
            <p:ph type="title"/>
          </p:nvPr>
        </p:nvSpPr>
        <p:spPr>
          <a:xfrm>
            <a:off x="311700" y="3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vanishing gradients</a:t>
            </a:r>
            <a:endParaRPr/>
          </a:p>
        </p:txBody>
      </p:sp>
      <p:pic>
        <p:nvPicPr>
          <p:cNvPr descr="Vanishing Gradient Problem occurs when the information about gradients starts to fading as it performs backpropagation in a deep neural network.&#10;&#10;That's why it wasn't used before 2006 when some researchers fixed it.&#10;&#10;In this video, we'll see how it actually occurs during training with help of little mathematics and also proves it experimentally with Keras and TensorFlow.&#10;&#10;If you have any query regarding this, please comment down below and if you don't have one kindly leave your feedback, it means a lot to me. &#10;&#10;Thanks and regards.&#10;&#10;For more mathematical explanation: https://mattmazur.com/2015/03/17/a-step-by-step-backpropagation-example/&#10;&#10;I'm available for your queries, ask me at:&#10;Facebook: https://www.facebook.com/developershutt&#10;Instagram: https://www.instagram.com.developershutt" id="262" name="Google Shape;262;p47" title="Vanishing Gradient Problem || Quickly Explaine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25435"/>
            <a:ext cx="7314175" cy="41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311700" y="3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exploding gradients</a:t>
            </a:r>
            <a:endParaRPr/>
          </a:p>
        </p:txBody>
      </p:sp>
      <p:sp>
        <p:nvSpPr>
          <p:cNvPr id="268" name="Google Shape;268;p48"/>
          <p:cNvSpPr txBox="1"/>
          <p:nvPr>
            <p:ph idx="1" type="body"/>
          </p:nvPr>
        </p:nvSpPr>
        <p:spPr>
          <a:xfrm>
            <a:off x="311675" y="573025"/>
            <a:ext cx="8520600" cy="3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por outro lado, outras funções de ativação que permitem que gradientes durante o processo de </a:t>
            </a:r>
            <a:r>
              <a:rPr i="1" lang="en" sz="2100"/>
              <a:t>backpropagation</a:t>
            </a:r>
            <a:r>
              <a:rPr lang="en" sz="2100"/>
              <a:t> retornem </a:t>
            </a:r>
            <a:r>
              <a:rPr lang="en" sz="2100" u="sng"/>
              <a:t>valores maiores do que 1</a:t>
            </a:r>
            <a:r>
              <a:rPr lang="en" sz="2100"/>
              <a:t> potencialmente geramento um </a:t>
            </a:r>
            <a:r>
              <a:rPr lang="en" sz="2100" u="sng"/>
              <a:t>crescimento exponencial</a:t>
            </a:r>
            <a:r>
              <a:rPr lang="en" sz="2100"/>
              <a:t> dos gradientes.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soluções são: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-"/>
            </a:pPr>
            <a:r>
              <a:rPr i="1" lang="en" sz="2100"/>
              <a:t>gradient clipping</a:t>
            </a:r>
            <a:r>
              <a:rPr lang="en" sz="2100"/>
              <a:t>, ‘cortar’ os valores dos gradientes de acordo com limiares estabelecidos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i="1" lang="en" sz="2100"/>
              <a:t>batch normalization</a:t>
            </a:r>
            <a:r>
              <a:rPr lang="en" sz="2100"/>
              <a:t>, normaliza as entradas de cada camada. Isso pode ajudar a estabilizar e acelerar o processo de treinamento</a:t>
            </a:r>
            <a:endParaRPr sz="2100"/>
          </a:p>
        </p:txBody>
      </p:sp>
      <p:sp>
        <p:nvSpPr>
          <p:cNvPr id="269" name="Google Shape;269;p48"/>
          <p:cNvSpPr txBox="1"/>
          <p:nvPr/>
        </p:nvSpPr>
        <p:spPr>
          <a:xfrm>
            <a:off x="276900" y="4569025"/>
            <a:ext cx="540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Vanishing and Exploding Gradients Problems in Deep Learning - GeeksforGeeks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type="title"/>
          </p:nvPr>
        </p:nvSpPr>
        <p:spPr>
          <a:xfrm>
            <a:off x="311700" y="3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exploding gradients</a:t>
            </a:r>
            <a:endParaRPr/>
          </a:p>
        </p:txBody>
      </p:sp>
      <p:pic>
        <p:nvPicPr>
          <p:cNvPr descr="Note: at time stamp 2:15 I said clip by norm but written clip by value over there. I apologize for that and confirm that it is &quot;Clip by Norm&quot;.&#10;&#10;Exploding Gradient Problem was the biggest problem (especially in RNN) while training Neural Networks that cause weights to explode and networks to become unstable and impossible to converge. &#10;In this video, we'll see how Gradient Clipping helps solve Exploding Gradient problems. &#10;I hope you like it.&#10;Stay tuned. Thanks for watching&#10;&#10;Timestamps:&#10;0:00 Intro to Exploding Gradient&#10;1:08 Gradient Clipping" id="275" name="Google Shape;275;p49" title="Exploding Gradient Problem | Gradient Clipping | Quickly Explaine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25435"/>
            <a:ext cx="7283500" cy="40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0"/>
          <p:cNvPicPr preferRelativeResize="0"/>
          <p:nvPr/>
        </p:nvPicPr>
        <p:blipFill rotWithShape="1">
          <a:blip r:embed="rId3">
            <a:alphaModFix/>
          </a:blip>
          <a:srcRect b="2743" l="0" r="55311" t="67479"/>
          <a:stretch/>
        </p:blipFill>
        <p:spPr>
          <a:xfrm>
            <a:off x="0" y="630352"/>
            <a:ext cx="4086276" cy="13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3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dying ReLU</a:t>
            </a:r>
            <a:endParaRPr/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4086275" y="573025"/>
            <a:ext cx="4746000" cy="3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por cortar os valores negativos o uso da função </a:t>
            </a:r>
            <a:r>
              <a:rPr b="1" lang="en" sz="2100"/>
              <a:t>ReLU </a:t>
            </a:r>
            <a:r>
              <a:rPr lang="en" sz="2100"/>
              <a:t>pode gerar o problema do “dying ReLU” 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o </a:t>
            </a:r>
            <a:r>
              <a:rPr lang="en" sz="2100"/>
              <a:t>problema</a:t>
            </a:r>
            <a:r>
              <a:rPr lang="en" sz="2100"/>
              <a:t> ocorre quando alguns </a:t>
            </a:r>
            <a:r>
              <a:rPr lang="en" sz="2100" u="sng"/>
              <a:t>neurônios podem ficar inativos</a:t>
            </a:r>
            <a:r>
              <a:rPr lang="en" sz="2100"/>
              <a:t> durante o treinamento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a função </a:t>
            </a:r>
            <a:r>
              <a:rPr b="1" lang="en" sz="2100"/>
              <a:t>Leaky ReLU</a:t>
            </a:r>
            <a:r>
              <a:rPr lang="en" sz="2100"/>
              <a:t>, uma variação do ReLU, permite um pequeno gradiente quando a entrada é negativa</a:t>
            </a:r>
            <a:endParaRPr sz="2100"/>
          </a:p>
        </p:txBody>
      </p:sp>
      <p:pic>
        <p:nvPicPr>
          <p:cNvPr id="283" name="Google Shape;283;p50"/>
          <p:cNvPicPr preferRelativeResize="0"/>
          <p:nvPr/>
        </p:nvPicPr>
        <p:blipFill rotWithShape="1">
          <a:blip r:embed="rId3">
            <a:alphaModFix/>
          </a:blip>
          <a:srcRect b="57530" l="49998" r="5313" t="12692"/>
          <a:stretch/>
        </p:blipFill>
        <p:spPr>
          <a:xfrm>
            <a:off x="0" y="2955927"/>
            <a:ext cx="4086276" cy="13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0"/>
          <p:cNvSpPr txBox="1"/>
          <p:nvPr/>
        </p:nvSpPr>
        <p:spPr>
          <a:xfrm>
            <a:off x="311700" y="4749150"/>
            <a:ext cx="714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A Comprehensive Review of Deep Learning: Architectures, Recent Advances, and Applications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prática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idx="1" type="body"/>
          </p:nvPr>
        </p:nvSpPr>
        <p:spPr>
          <a:xfrm>
            <a:off x="862375" y="863550"/>
            <a:ext cx="7419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latin typeface="Open Sans Light"/>
                <a:ea typeface="Open Sans Light"/>
                <a:cs typeface="Open Sans Light"/>
                <a:sym typeface="Open Sans Light"/>
              </a:rPr>
              <a:t>codificar uma MLP do zero (</a:t>
            </a:r>
            <a:r>
              <a:rPr i="1" lang="en" sz="2600">
                <a:latin typeface="Open Sans Light"/>
                <a:ea typeface="Open Sans Light"/>
                <a:cs typeface="Open Sans Light"/>
                <a:sym typeface="Open Sans Light"/>
              </a:rPr>
              <a:t>from scratch</a:t>
            </a:r>
            <a:r>
              <a:rPr lang="en" sz="2600">
                <a:latin typeface="Open Sans Light"/>
                <a:ea typeface="Open Sans Light"/>
                <a:cs typeface="Open Sans Light"/>
                <a:sym typeface="Open Sans Light"/>
              </a:rPr>
              <a:t>) e visualizar o processo de </a:t>
            </a:r>
            <a:br>
              <a:rPr lang="en" sz="26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i="1" lang="en" sz="2600">
                <a:latin typeface="Open Sans Light"/>
                <a:ea typeface="Open Sans Light"/>
                <a:cs typeface="Open Sans Light"/>
                <a:sym typeface="Open Sans Light"/>
              </a:rPr>
              <a:t>feed forward</a:t>
            </a:r>
            <a:r>
              <a:rPr lang="en" sz="2600">
                <a:latin typeface="Open Sans Light"/>
                <a:ea typeface="Open Sans Light"/>
                <a:cs typeface="Open Sans Light"/>
                <a:sym typeface="Open Sans Light"/>
              </a:rPr>
              <a:t> e </a:t>
            </a:r>
            <a:r>
              <a:rPr i="1" lang="en" sz="2600">
                <a:latin typeface="Open Sans Light"/>
                <a:ea typeface="Open Sans Light"/>
                <a:cs typeface="Open Sans Light"/>
                <a:sym typeface="Open Sans Light"/>
              </a:rPr>
              <a:t>back propagation</a:t>
            </a:r>
            <a:endParaRPr i="1" sz="260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especificações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/>
          <p:nvPr>
            <p:ph idx="1" type="body"/>
          </p:nvPr>
        </p:nvSpPr>
        <p:spPr>
          <a:xfrm>
            <a:off x="419525" y="159425"/>
            <a:ext cx="8139000" cy="49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codificar uma </a:t>
            </a:r>
            <a:r>
              <a:rPr b="1" lang="en" sz="2000"/>
              <a:t>rede neural</a:t>
            </a:r>
            <a:r>
              <a:rPr lang="en" sz="2000"/>
              <a:t> de múltiplas camadas </a:t>
            </a:r>
            <a:br>
              <a:rPr lang="en" sz="2000"/>
            </a:br>
            <a:r>
              <a:rPr lang="en" sz="2000"/>
              <a:t>(MLP - Multi-layer Perceptron) a partir da </a:t>
            </a:r>
            <a:br>
              <a:rPr lang="en" sz="2000"/>
            </a:br>
            <a:r>
              <a:rPr lang="en" sz="2000" u="sng"/>
              <a:t>estrutura </a:t>
            </a:r>
            <a:r>
              <a:rPr lang="en" sz="2000" u="sng"/>
              <a:t>de um grafo</a:t>
            </a:r>
            <a:endParaRPr sz="2000" u="sng"/>
          </a:p>
          <a:p>
            <a:pPr indent="-355600" lvl="0" marL="457200" rtl="0" algn="l">
              <a:spcBef>
                <a:spcPts val="2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implementar a função de </a:t>
            </a:r>
            <a:br>
              <a:rPr lang="en" sz="2000"/>
            </a:br>
            <a:r>
              <a:rPr b="1" i="1" lang="en" sz="2000"/>
              <a:t>feed forward </a:t>
            </a:r>
            <a:r>
              <a:rPr lang="en" sz="2000"/>
              <a:t>e </a:t>
            </a:r>
            <a:r>
              <a:rPr b="1" i="1" lang="en" sz="2000"/>
              <a:t>back propagation</a:t>
            </a:r>
            <a:endParaRPr b="1" i="1" sz="2000"/>
          </a:p>
          <a:p>
            <a:pPr indent="-355600" lvl="0" marL="457200" rtl="0" algn="l">
              <a:spcBef>
                <a:spcPts val="2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utilizar a </a:t>
            </a:r>
            <a:r>
              <a:rPr b="1" lang="en" sz="2000"/>
              <a:t>base de dados</a:t>
            </a:r>
            <a:r>
              <a:rPr lang="en" sz="2000"/>
              <a:t> </a:t>
            </a:r>
            <a:br>
              <a:rPr lang="en" sz="2000"/>
            </a:br>
            <a:r>
              <a:rPr lang="en" sz="2000"/>
              <a:t>“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Heart Disease</a:t>
            </a:r>
            <a:r>
              <a:rPr lang="en" sz="2000"/>
              <a:t>” para treinar (80% pra treino, 20% teste)</a:t>
            </a:r>
            <a:br>
              <a:rPr lang="en" sz="2000"/>
            </a:br>
            <a:r>
              <a:rPr lang="en" sz="2000"/>
              <a:t>a rede e em seguida realizar a inferência</a:t>
            </a:r>
            <a:endParaRPr sz="2000"/>
          </a:p>
          <a:p>
            <a:pPr indent="-355600" lvl="0" marL="457200" rtl="0" algn="l">
              <a:spcBef>
                <a:spcPts val="2400"/>
              </a:spcBef>
              <a:spcAft>
                <a:spcPts val="2400"/>
              </a:spcAft>
              <a:buSzPts val="2000"/>
              <a:buAutoNum type="arabicPeriod"/>
            </a:pPr>
            <a:r>
              <a:rPr b="1" lang="en" sz="2000"/>
              <a:t>demonstrar/</a:t>
            </a:r>
            <a:r>
              <a:rPr b="1" lang="en" sz="2000"/>
              <a:t>visualizar </a:t>
            </a:r>
            <a:r>
              <a:rPr lang="en" sz="2000"/>
              <a:t>o </a:t>
            </a:r>
            <a:r>
              <a:rPr lang="en" sz="2000" u="sng"/>
              <a:t>progresso de treinamento</a:t>
            </a:r>
            <a:r>
              <a:rPr lang="en" sz="2000"/>
              <a:t> e da inferência usando alguma API para mostrar o grafo e os pesos sendo atualizados em tempo real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6"/>
          <p:cNvSpPr txBox="1"/>
          <p:nvPr>
            <p:ph idx="1" type="body"/>
          </p:nvPr>
        </p:nvSpPr>
        <p:spPr>
          <a:xfrm>
            <a:off x="419525" y="479950"/>
            <a:ext cx="8139000" cy="40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desafio (+0.5 na VA1):</a:t>
            </a:r>
            <a:endParaRPr sz="2000"/>
          </a:p>
          <a:p>
            <a:pPr indent="-355600" lvl="0" marL="457200" rtl="0" algn="l">
              <a:spcBef>
                <a:spcPts val="2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leaderboard no dataset Diabetes 130-US Hospitals for Years 1999-2008 </a:t>
            </a:r>
            <a:r>
              <a:rPr lang="en" sz="2000"/>
              <a:t>(80% pra treino, 20% teste)</a:t>
            </a:r>
            <a:br>
              <a:rPr lang="en" sz="2000"/>
            </a:br>
            <a:r>
              <a:rPr lang="en" sz="2000" u="sng">
                <a:solidFill>
                  <a:schemeClr val="hlink"/>
                </a:solidFill>
                <a:hlinkClick r:id="rId3"/>
              </a:rPr>
              <a:t>https://archive.ics.uci.edu/dataset/296/diabetes+130-us+hospitals+for+years+1999-2008</a:t>
            </a: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000"/>
              <a:t>	</a:t>
            </a:r>
            <a:endParaRPr sz="17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46825" cy="442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8"/>
          <p:cNvSpPr txBox="1"/>
          <p:nvPr/>
        </p:nvSpPr>
        <p:spPr>
          <a:xfrm>
            <a:off x="152400" y="4579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lsfcin/mlp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entrega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0"/>
          <p:cNvSpPr txBox="1"/>
          <p:nvPr>
            <p:ph idx="1" type="body"/>
          </p:nvPr>
        </p:nvSpPr>
        <p:spPr>
          <a:xfrm>
            <a:off x="419525" y="531725"/>
            <a:ext cx="8139000" cy="40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mostrar o seu </a:t>
            </a:r>
            <a:r>
              <a:rPr b="1" lang="en" sz="2800"/>
              <a:t>harness</a:t>
            </a: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 funcionando</a:t>
            </a:r>
            <a:endParaRPr sz="2800"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mostrar a sua </a:t>
            </a:r>
            <a:r>
              <a:rPr b="1" lang="en" sz="2800"/>
              <a:t>estrutura de pastas</a:t>
            </a: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, 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onde fica o seu projeto e seus arquivos .md</a:t>
            </a:r>
            <a:endParaRPr sz="2800"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mostrar o exercício versionado no 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b="1" lang="en" sz="2800"/>
              <a:t>git</a:t>
            </a: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 e usando </a:t>
            </a:r>
            <a:r>
              <a:rPr b="1" lang="en" sz="2800"/>
              <a:t>gitflow</a:t>
            </a:r>
            <a:endParaRPr b="1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1"/>
          <p:cNvSpPr txBox="1"/>
          <p:nvPr>
            <p:ph idx="1" type="body"/>
          </p:nvPr>
        </p:nvSpPr>
        <p:spPr>
          <a:xfrm>
            <a:off x="419525" y="531725"/>
            <a:ext cx="8139000" cy="40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cada equipe terá que mostrar 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o </a:t>
            </a:r>
            <a:r>
              <a:rPr b="1" lang="en" sz="2800"/>
              <a:t>código rodando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o </a:t>
            </a:r>
            <a:r>
              <a:rPr b="1" lang="en" sz="2800"/>
              <a:t>treinamento</a:t>
            </a: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 e 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a </a:t>
            </a:r>
            <a:r>
              <a:rPr b="1" lang="en" sz="2800"/>
              <a:t>inferência</a:t>
            </a:r>
            <a:endParaRPr b="1" sz="2800"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adicionar</a:t>
            </a: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 um </a:t>
            </a:r>
            <a:r>
              <a:rPr b="1" lang="en" sz="2800"/>
              <a:t>slide abaixo do último</a:t>
            </a: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, 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copiando os mesmos campos e </a:t>
            </a:r>
            <a:b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2800">
                <a:latin typeface="Open Sans Light"/>
                <a:ea typeface="Open Sans Light"/>
                <a:cs typeface="Open Sans Light"/>
                <a:sym typeface="Open Sans Light"/>
              </a:rPr>
              <a:t>preenchendo eles </a:t>
            </a:r>
            <a:endParaRPr sz="280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ranking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3"/>
          <p:cNvSpPr txBox="1"/>
          <p:nvPr>
            <p:ph idx="1" type="body"/>
          </p:nvPr>
        </p:nvSpPr>
        <p:spPr>
          <a:xfrm>
            <a:off x="311700" y="177875"/>
            <a:ext cx="8520600" cy="4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Pontuação</a:t>
            </a:r>
            <a:r>
              <a:rPr lang="en" sz="2200"/>
              <a:t> : Nomes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0.885</a:t>
            </a:r>
            <a:r>
              <a:rPr lang="en"/>
              <a:t> : </a:t>
            </a:r>
            <a:r>
              <a:rPr lang="en"/>
              <a:t>Lucas Silva Figueiredo</a:t>
            </a:r>
            <a:endParaRPr/>
          </a:p>
        </p:txBody>
      </p:sp>
      <p:sp>
        <p:nvSpPr>
          <p:cNvPr id="361" name="Google Shape;361;p65"/>
          <p:cNvSpPr txBox="1"/>
          <p:nvPr>
            <p:ph idx="1" type="body"/>
          </p:nvPr>
        </p:nvSpPr>
        <p:spPr>
          <a:xfrm>
            <a:off x="311700" y="1144075"/>
            <a:ext cx="45213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accuracy</a:t>
            </a:r>
            <a:r>
              <a:rPr lang="en" sz="2000"/>
              <a:t>: 0.885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learning rate</a:t>
            </a:r>
            <a:r>
              <a:rPr lang="en" sz="2000"/>
              <a:t>: 0.01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activation</a:t>
            </a:r>
            <a:r>
              <a:rPr lang="en" sz="2000"/>
              <a:t>: relu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architecture</a:t>
            </a:r>
            <a:r>
              <a:rPr lang="en" sz="2000"/>
              <a:t>: 13 | 8 | 5 | 1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pre-processing</a:t>
            </a:r>
            <a:r>
              <a:rPr lang="en" sz="2000"/>
              <a:t>: standardize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comentários</a:t>
            </a:r>
            <a:r>
              <a:rPr lang="en" sz="2000"/>
              <a:t>: o uso da ‘padronização’ (standardize) ajudou a resolver o problema de gradientes explodindo no meu caso </a:t>
            </a:r>
            <a:endParaRPr sz="2000"/>
          </a:p>
        </p:txBody>
      </p:sp>
      <p:pic>
        <p:nvPicPr>
          <p:cNvPr id="362" name="Google Shape;362;p65"/>
          <p:cNvPicPr preferRelativeResize="0"/>
          <p:nvPr/>
        </p:nvPicPr>
        <p:blipFill rotWithShape="1">
          <a:blip r:embed="rId3">
            <a:alphaModFix/>
          </a:blip>
          <a:srcRect b="0" l="77048" r="0" t="0"/>
          <a:stretch/>
        </p:blipFill>
        <p:spPr>
          <a:xfrm>
            <a:off x="7106926" y="180800"/>
            <a:ext cx="2003076" cy="49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65"/>
          <p:cNvPicPr preferRelativeResize="0"/>
          <p:nvPr/>
        </p:nvPicPr>
        <p:blipFill rotWithShape="1">
          <a:blip r:embed="rId3">
            <a:alphaModFix/>
          </a:blip>
          <a:srcRect b="0" l="12390" r="35108" t="3754"/>
          <a:stretch/>
        </p:blipFill>
        <p:spPr>
          <a:xfrm>
            <a:off x="4697863" y="1261362"/>
            <a:ext cx="2240298" cy="230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0.980 : Caua Lira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144075"/>
            <a:ext cx="4521300" cy="387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accuracy: 0.980</a:t>
            </a:r>
          </a:p>
          <a:p>
            <a:pPr>
              <a:defRPr sz="1400"/>
            </a:pPr>
            <a:r>
              <a:t>learning rate: 0.02</a:t>
            </a:r>
          </a:p>
          <a:p>
            <a:pPr>
              <a:defRPr sz="1400"/>
            </a:pPr>
            <a:r>
              <a:t>activation: relu</a:t>
            </a:r>
          </a:p>
          <a:p>
            <a:pPr>
              <a:defRPr sz="1400"/>
            </a:pPr>
            <a:r>
              <a:t>architecture: 13 | 16 | 8 | 1</a:t>
            </a:r>
          </a:p>
          <a:p>
            <a:pPr>
              <a:defRPr sz="1400"/>
            </a:pPr>
            <a:r>
              <a:t>pre-processing: standardize</a:t>
            </a:r>
          </a:p>
          <a:p>
            <a:pPr>
              <a:defRPr sz="1400"/>
            </a:pPr>
            <a:r>
              <a:t>comentarios: A padronizacao (standardize) combinada com a ativacao ReLU e arquitetura piramidal (13 | 16 | 8 | 1) evitou vanishing gradients e garantiu convergencia estavel com 98% de acuracia no teste.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cas - UABJ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