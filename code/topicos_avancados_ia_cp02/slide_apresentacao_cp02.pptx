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>
                <a:solidFill>
                  <a:srgbClr val="333333"/>
                </a:solidFill>
                <a:latin typeface="Calibri"/>
              </a:defRPr>
            </a:pPr>
            <a:r>
              <a:t>Cauã da Cunha Lira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b="1" sz="2200">
                <a:latin typeface="Calibri"/>
              </a:rPr>
              <a:t>Modelo: </a:t>
            </a:r>
            <a:r>
              <a:rPr b="0" sz="2200">
                <a:latin typeface="Calibri"/>
              </a:rPr>
              <a:t>RAPUNet-Zeta (CNN - Encoder ResNet50V2 + Decoder Spatial Attention + Mish)</a:t>
            </a:r>
          </a:p>
          <a:p>
            <a:pPr>
              <a:spcAft>
                <a:spcPts val="2000"/>
              </a:spcAft>
            </a:pPr>
            <a:r>
              <a:rPr b="1" sz="2200">
                <a:latin typeface="Calibri"/>
              </a:rPr>
              <a:t>Dataset: </a:t>
            </a:r>
            <a:r>
              <a:rPr b="0" sz="2200">
                <a:latin typeface="Calibri"/>
              </a:rPr>
              <a:t>Kvasir-SEG (Pólipos Gastrointestinais, 1.000 imagens médicas)</a:t>
            </a:r>
          </a:p>
          <a:p>
            <a:pPr>
              <a:spcAft>
                <a:spcPts val="2000"/>
              </a:spcAft>
            </a:pPr>
            <a:r>
              <a:rPr b="1" sz="2200">
                <a:latin typeface="Calibri"/>
              </a:rPr>
              <a:t>Resultados: </a:t>
            </a:r>
            <a:r>
              <a:rPr b="0" sz="2200">
                <a:latin typeface="Calibri"/>
              </a:rPr>
              <a:t>accuracy: 0.9627 - loss: 0.3416 - dice coef: 0.6536</a:t>
            </a:r>
          </a:p>
          <a:p>
            <a:pPr>
              <a:spcAft>
                <a:spcPts val="2000"/>
              </a:spcAft>
            </a:pPr>
            <a:r>
              <a:rPr b="1" sz="2200"/>
              <a:t>Link:
</a:t>
            </a:r>
            <a:r>
              <a:rPr sz="2000" u="sng">
                <a:solidFill>
                  <a:srgbClr val="0056B3"/>
                </a:solidFill>
              </a:rPr>
              <a:t>https://github.com/lira-labs/workspace/tree/main/topicos-avancados-ia-cp02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57200"/>
            <a:ext cx="5029200" cy="1796143"/>
          </a:xfrm>
          <a:prstGeom prst="rect">
            <a:avLst/>
          </a:prstGeom>
        </p:spPr>
      </p:pic>
      <p:pic>
        <p:nvPicPr>
          <p:cNvPr id="5" name="Picture 4" descr="segmentation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5029200" cy="167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